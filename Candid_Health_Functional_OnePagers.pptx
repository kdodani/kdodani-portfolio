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5–7 MIN WALK</a:t>
            </a:r>
          </a:p>
          <a:p>
            <a:r>
              <a:t>Business: $500K ops, 60% denials. Providers unpaid; physio delayed on pre-auth.</a:t>
            </a:r>
          </a:p>
          <a:p>
            <a:r>
              <a:t>Why paper if we have a portal? 50% still paper. Paying ELAN to transcribe.</a:t>
            </a:r>
          </a:p>
          <a:p>
            <a:r>
              <a:t>Ops assumed behavior — more marketing, pay-to-use, tax paper. That bleeds into ops cost too.</a:t>
            </a:r>
          </a:p>
          <a:p>
            <a:r>
              <a:t>Discovery: product fit 20–30 single-claim lines, not 1000-line multi-claim. 25 orgs = 50% of paper, similar workflow. Unlock a segment; don’t spray features on the average user.</a:t>
            </a:r>
          </a:p>
          <a:p>
            <a:r>
              <a:t>Shipped: fewer screens, multi-claim, fee codes/programs, contract rules at submit, 1000–2000 lines, async + retry.</a:t>
            </a:r>
          </a:p>
          <a:p>
            <a:r>
              <a:t>Failure: 10-name dark launch — they never submitted. Too slow, poor UX. I optimized capacity, not responsiveness. Scalability and performance are one problem.</a:t>
            </a:r>
          </a:p>
          <a:p>
            <a:r>
              <a:t>Then dual-run so existing users stayed live; soft → hard.</a:t>
            </a:r>
          </a:p>
          <a:p>
            <a:r>
              <a:t>Outcomes: invalid −40%, adoption +60%, $200K ops saved. Do not quote a post-denial % — we don’t have one.</a:t>
            </a:r>
          </a:p>
          <a:p>
            <a:r>
              <a:t>Missed: no auto-correct, rules not reconfigurable, no sandbox vs live CMS deny, bulk multi-claim (didn’t push line-level pay). Mandatory docs as adoption blocker. That’s the Candid conversation.</a:t>
            </a:r>
          </a:p>
          <a:p>
            <a:r>
              <a:t>Strengths (if asked): Pareto 25; eng/architects/rules-engine PM/CMS/CMs/marketing; InfoX was born from this (API-first).</a:t>
            </a:r>
          </a:p>
          <a:p/>
          <a:p>
            <a:r>
              <a:t>PROBE</a:t>
            </a:r>
          </a:p>
          <a:p>
            <a:r>
              <a:t>Capacity vs responsiveness. Why dual-run. Why portal before EMR. What you’d sandbox vs live deny.</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5–7 MIN WALK</a:t>
            </a:r>
          </a:p>
          <a:p>
            <a:r>
              <a:t>Business: 52K faxes/year, ~$250K re-key. Clinical notes truncated by a 2001 billing spec. Form frozen since 2015.</a:t>
            </a:r>
          </a:p>
          <a:p>
            <a:r>
              <a:t>Assumption: better form, portal, or pay EMRs. Discovery killed it — 15 GPs will not leave the EMR. Advisors: text cut off by HIBC limits. Digital in EMR ≠ digital in CMS.</a:t>
            </a:r>
          </a:p>
          <a:p>
            <a:r>
              <a:t>Reframe: billing was the wrong abstraction for clinical data. Split the pipe; don’t patch the 2015 form.</a:t>
            </a:r>
          </a:p>
          <a:p>
            <a:r>
              <a:t>Shipped: OSCAR eForm → APIM → CMS JSON. Teleplan stays billing. APIM is reusable.</a:t>
            </a:r>
          </a:p>
          <a:p>
            <a:r>
              <a:t>Launch: InnoFest “Death to PDFs” didn’t win; $80K POC anyway. Validated 27 Mar 2025. Form 8 not live. Vendor talks ran after the POC — that was the miss.</a:t>
            </a:r>
          </a:p>
          <a:p>
            <a:r>
              <a:t>GTM (if asked): EMRs integrate to keep doctors. Pull demand, don’t pay for the pipe. Path to ~70%; signals from QHR, Plexia, Medinet, Intrahealth. 50 vendors in outreach.</a:t>
            </a:r>
          </a:p>
          <a:p>
            <a:r>
              <a:t>Outcome: GPs stay in EMR. $80K POC. Not a fax-% claim.</a:t>
            </a:r>
          </a:p>
          <a:p>
            <a:r>
              <a:t>Missed: vendor talks in parallel with discovery; live F8; FHIR later.</a:t>
            </a:r>
          </a:p>
          <a:p/>
          <a:p>
            <a:r>
              <a:t>PROBE</a:t>
            </a:r>
          </a:p>
          <a:p>
            <a:r>
              <a:t>Why JSON not FHIR. Why OSCAR not top-5. How you create pull as a small fish.</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5–7 MIN WALK</a:t>
            </a:r>
          </a:p>
          <a:p>
            <a:r>
              <a:t>Business: CMs hunting 20–75 docs, 90+ min SME. Signal buried. ~70 programs if they ask.</a:t>
            </a:r>
          </a:p>
          <a:p>
            <a:r>
              <a:t>Assumption: a ranked recommendation (accuracy) was the product. Discovery: finding, not judging, is the bottleneck. Trust needs an evidence trace. No production PHI in the sprint.</a:t>
            </a:r>
          </a:p>
          <a:p>
            <a:r>
              <a:t>Reframe: retrieval + evidence, not automation. Human-in-loop — same residual call as $80M extensions.</a:t>
            </a:r>
          </a:p>
          <a:p>
            <a:r>
              <a:t>Shipped: retrieval layer, mind map + evidence, blocked auto-decision, CM-validated synthetic data.</a:t>
            </a:r>
          </a:p>
          <a:p>
            <a:r>
              <a:t>Failure: 2-week prototype, not production. Assumed accuracy would land; stakeholders used the map. No override patterns in the sprint.</a:t>
            </a:r>
          </a:p>
          <a:p>
            <a:r>
              <a:t>Outcome: 2nd of 36. Evidence to the CM, not a score. No minutes-saved claim.</a:t>
            </a:r>
          </a:p>
          <a:p>
            <a:r>
              <a:t>Missed: confidence/override earlier; production validation; CM touches → rules.</a:t>
            </a:r>
          </a:p>
          <a:p/>
          <a:p>
            <a:r>
              <a:t>PROBE</a:t>
            </a:r>
          </a:p>
          <a:p>
            <a:r>
              <a:t>Why not auto-route obvious cases. Synthetic edge misses. Who accepts a rule from a CM touch.</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5–7 MIN WALK (HoP / Product Lead)</a:t>
            </a:r>
          </a:p>
          <a:p>
            <a:r>
              <a:t>Industry: both sides in an AI arms race — payers auto-deny in seconds; providers racing to pre-submit prediction. Law is pushing HITL, not full autonomy. That’s already Candid’s design principle: assist, don’t replace.</a:t>
            </a:r>
          </a:p>
          <a:p/>
          <a:p>
            <a:r>
              <a:t>Point at the flow: you compressed the loop AFTER a claim fails — call payer, policy, denial reason, stale claim. I’d pull that loop BEFORE the claim is born.</a:t>
            </a:r>
          </a:p>
          <a:p/>
          <a:p>
            <a:r>
              <a:t>Sharp line: Candid learns from resolved errors. The next layer learns from emerging patterns. Candid optimizes claim correctness. Next layer optimizes the system behavior that produces claims. (I call this JEV in my notes — not a competing product.)</a:t>
            </a:r>
          </a:p>
          <a:p/>
          <a:p>
            <a:r>
              <a:t>Scenario: provider miscodes CPT X from a bad intake default.</a:t>
            </a:r>
          </a:p>
          <a:p>
            <a:r>
              <a:t>Candid: detect denial → fix claim → add rule.</a:t>
            </a:r>
          </a:p>
          <a:p>
            <a:r>
              <a:t>Next layer: this provider consistently miscodes → infer workflow/training → suggest UI default, flag provider, change intake — so those claims never get generated incorrectly.</a:t>
            </a:r>
          </a:p>
          <a:p/>
          <a:p>
            <a:r>
              <a:t>ML: your flywheel already learns from resolved errors across the customer base. Point the same aggregate signal at payer × CPT drift — policy as something that drifts, not something fixed until a human notices a spike.</a:t>
            </a:r>
          </a:p>
          <a:p/>
          <a:p>
            <a:r>
              <a:t>GTM: EMR-embedded billing is high-volume, high-complexity — where revenue and denial risk sit. You don’t replace those systems; you integrate. Same shape as WorkSafe: 25 orgs, 50% of paper. Solving for them compounds FPY.</a:t>
            </a:r>
          </a:p>
          <a:p/>
          <a:p>
            <a:r>
              <a:t>Gamification (one line, if they ask): you’re building a biller org for residual HITL. Visible speed/accuracy on that queue is a companion to agents, not a separate bet.</a:t>
            </a:r>
          </a:p>
          <a:p/>
          <a:p>
            <a:r>
              <a:t>STOP. Ask: what are you already building on the decision layer vs execution?</a:t>
            </a:r>
          </a:p>
          <a:p/>
          <a:p>
            <a:r>
              <a:t>PROBE</a:t>
            </a:r>
          </a:p>
          <a:p>
            <a:r>
              <a:t>1. At high touchless, is the bottleneck validation or how you handle the long tail?</a:t>
            </a:r>
          </a:p>
          <a:p>
            <a:r>
              <a:t>2. Would you start decision agents on one payer × CPT, or horizontal across agents?</a:t>
            </a:r>
          </a:p>
          <a:p>
            <a:r>
              <a:t>3. How do you currently detect payer policy drift vs waiting on a denial spike?</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5–7 MIN WALK</a:t>
            </a:r>
          </a:p>
          <a:p>
            <a:r>
              <a:t>The loop: volume finds the constraint. Interviews kill the wrong product. Launch data kills the wrong success metric. Same muscle on submit (PIS), clinical intake (InfoX), residual 5% (Radar).</a:t>
            </a:r>
          </a:p>
          <a:p/>
          <a:p>
            <a:r>
              <a:t>PIS: 3.7M lines → 25 orgs = 50% paper. Ops assumed behavior; product was 20–30 line. I funded the segment, not the average user. Dark launch of 10 names was too slow — capacity ≠ responsiveness. Outcomes I will quote: invalid −40%, adoption +60%, $200K. I will not quote a post-denial %.</a:t>
            </a:r>
          </a:p>
          <a:p/>
          <a:p>
            <a:r>
              <a:t>InfoX: 52K faxes, ~$250K re-key, 28M keystrokes. 15 GPs + advisors: they will not leave the EMR. Form 8/11 first. $80K POC. JSON not FHIR. InnoFest loss; validated 27 Mar 2025; Form 8 not live. Not a fax-% claim.</a:t>
            </a:r>
          </a:p>
          <a:p/>
          <a:p>
            <a:r>
              <a:t>Radar: 20–75 docs, 90+ min from SMEs — not an ops extract. Finding, not judging. No production PHI → synthetic + CM validate. Evidence to the CM, not a score. 2nd of 36. No minutes-saved. Not production.</a:t>
            </a:r>
          </a:p>
          <a:p/>
          <a:p>
            <a:r>
              <a:t>What I will not claim: fax-% drop, minutes saved, post-denial %, a TCR number I do not own.</a:t>
            </a:r>
          </a:p>
          <a:p/>
          <a:p>
            <a:r>
              <a:t>PROBE</a:t>
            </a:r>
          </a:p>
          <a:p>
            <a:r>
              <a:t>How do you instrument TCR vs the residual? Who owns the metric when PHI blocks the model? What vanity number would you refuse to put on a slide?</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5–7 MIN WALK</a:t>
            </a:r>
          </a:p>
          <a:p>
            <a:r>
              <a:t>Walk the pipe left to right. Office admin, not the MD. V1 stayed live on purpose.</a:t>
            </a:r>
          </a:p>
          <a:p/>
          <a:p>
            <a:r>
              <a:t>DATA: PIS V2 / Kendo → validation (fee codes, contract, DOS) → PIS.API → async CMS.</a:t>
            </a:r>
          </a:p>
          <a:p/>
          <a:p>
            <a:r>
              <a:t>ERROR 1: fail closed at submit. No DOS → no fee-code search (CMS HUB periods; DOS is the join key). Ineligible contract / invalid code → never queued. I bring the invalid state; eng brings the constraint. Cut polish so eligibility did not wreck submit latency.</a:t>
            </a:r>
          </a:p>
          <a:p/>
          <a:p>
            <a:r>
              <a:t>ERROR 2: portal can succeed while CMS fails. Sync → async to scale. Retry queue; then email to eng for manual submit (WOR pattern).</a:t>
            </a:r>
          </a:p>
          <a:p/>
          <a:p>
            <a:r>
              <a:t>Residual: grid encodes format and contract. “Is this line for this injury?” stays human — not a regex.</a:t>
            </a:r>
          </a:p>
          <a:p/>
          <a:p>
            <a:r>
              <a:t>Invalid −40% because bad lines never reached ops. Detect only. No auto-correct. Do not claim a measured timezone-denial rate. Dark-launch slowness is capacity vs responsiveness — not a box on this slide.</a:t>
            </a:r>
          </a:p>
          <a:p/>
          <a:p>
            <a:r>
              <a:t>PROBE</a:t>
            </a:r>
          </a:p>
          <a:p>
            <a:r>
              <a:t>What do you sandbox vs live deny? Where does entitlement stay human on your stack?</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114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11460175" cy="164592"/>
          </a:xfrm>
          <a:prstGeom prst="rect">
            <a:avLst/>
          </a:prstGeom>
          <a:noFill/>
        </p:spPr>
        <p:txBody>
          <a:bodyPr wrap="square"/>
          <a:lstStyle/>
          <a:p>
            <a:pPr algn="l"/>
            <a:r>
              <a:rPr sz="1000" b="1" i="0" spc="200">
                <a:solidFill>
                  <a:srgbClr val="7C3AED"/>
                </a:solidFill>
                <a:latin typeface="Calibri"/>
              </a:rPr>
              <a:t>1  ·  FIRST-PASS YIELD</a:t>
            </a:r>
          </a:p>
        </p:txBody>
      </p:sp>
      <p:sp>
        <p:nvSpPr>
          <p:cNvPr id="5" name="TextBox 4"/>
          <p:cNvSpPr txBox="1"/>
          <p:nvPr/>
        </p:nvSpPr>
        <p:spPr>
          <a:xfrm>
            <a:off x="365760" y="237744"/>
            <a:ext cx="11460175" cy="310896"/>
          </a:xfrm>
          <a:prstGeom prst="rect">
            <a:avLst/>
          </a:prstGeom>
          <a:noFill/>
        </p:spPr>
        <p:txBody>
          <a:bodyPr wrap="square"/>
          <a:lstStyle/>
          <a:p>
            <a:pPr algn="l"/>
            <a:r>
              <a:rPr sz="2200" b="1" i="0">
                <a:solidFill>
                  <a:srgbClr val="111827"/>
                </a:solidFill>
                <a:latin typeface="Calibri"/>
              </a:rPr>
              <a:t>PIS — Product blocked the segment that drove paper</a:t>
            </a:r>
          </a:p>
        </p:txBody>
      </p:sp>
      <p:sp>
        <p:nvSpPr>
          <p:cNvPr id="6" name="TextBox 5"/>
          <p:cNvSpPr txBox="1"/>
          <p:nvPr/>
        </p:nvSpPr>
        <p:spPr>
          <a:xfrm>
            <a:off x="365760" y="530352"/>
            <a:ext cx="11460175" cy="164592"/>
          </a:xfrm>
          <a:prstGeom prst="rect">
            <a:avLst/>
          </a:prstGeom>
          <a:noFill/>
        </p:spPr>
        <p:txBody>
          <a:bodyPr wrap="square"/>
          <a:lstStyle/>
          <a:p>
            <a:r>
              <a:rPr sz="1000" b="1" i="0">
                <a:solidFill>
                  <a:srgbClr val="6B7280"/>
                </a:solidFill>
                <a:latin typeface="Calibri"/>
              </a:rPr>
              <a:t>User  </a:t>
            </a:r>
            <a:r>
              <a:rPr sz="1000" b="0" i="0">
                <a:solidFill>
                  <a:srgbClr val="6B7280"/>
                </a:solidFill>
                <a:latin typeface="Calibri"/>
              </a:rPr>
              <a:t>Delayed pay / physio pre-auth after denials     ·     </a:t>
            </a:r>
            <a:r>
              <a:rPr sz="1000" b="1" i="0">
                <a:solidFill>
                  <a:srgbClr val="6B7280"/>
                </a:solidFill>
                <a:latin typeface="Calibri"/>
              </a:rPr>
              <a:t>Business  </a:t>
            </a:r>
            <a:r>
              <a:rPr sz="1000" b="0" i="0">
                <a:solidFill>
                  <a:srgbClr val="6B7280"/>
                </a:solidFill>
                <a:latin typeface="Calibri"/>
              </a:rPr>
              <a:t>$500K ops · 60% denials     ·     </a:t>
            </a:r>
            <a:r>
              <a:rPr sz="1000" b="1" i="0">
                <a:solidFill>
                  <a:srgbClr val="6B7280"/>
                </a:solidFill>
                <a:latin typeface="Calibri"/>
              </a:rPr>
              <a:t>Trigger  </a:t>
            </a:r>
            <a:r>
              <a:rPr sz="1000" b="0" i="0">
                <a:solidFill>
                  <a:srgbClr val="6B7280"/>
                </a:solidFill>
                <a:latin typeface="Calibri"/>
              </a:rPr>
              <a:t>50% still paper; paying to transcribe</a:t>
            </a:r>
          </a:p>
        </p:txBody>
      </p:sp>
      <p:sp>
        <p:nvSpPr>
          <p:cNvPr id="7" name="TextBox 6"/>
          <p:cNvSpPr txBox="1"/>
          <p:nvPr/>
        </p:nvSpPr>
        <p:spPr>
          <a:xfrm>
            <a:off x="365760" y="676656"/>
            <a:ext cx="11460175" cy="164592"/>
          </a:xfrm>
          <a:prstGeom prst="rect">
            <a:avLst/>
          </a:prstGeom>
          <a:noFill/>
        </p:spPr>
        <p:txBody>
          <a:bodyPr wrap="square"/>
          <a:lstStyle/>
          <a:p>
            <a:pPr algn="l"/>
            <a:r>
              <a:rPr sz="1100" b="0" i="1">
                <a:solidFill>
                  <a:srgbClr val="6B7280"/>
                </a:solidFill>
                <a:latin typeface="Calibri"/>
              </a:rPr>
              <a:t>Ops assumed behavior. The product was built for occasional 20–30 line claims.</a:t>
            </a:r>
          </a:p>
        </p:txBody>
      </p:sp>
      <p:sp>
        <p:nvSpPr>
          <p:cNvPr id="8" name="TextBox 7"/>
          <p:cNvSpPr txBox="1"/>
          <p:nvPr/>
        </p:nvSpPr>
        <p:spPr>
          <a:xfrm>
            <a:off x="365760" y="932688"/>
            <a:ext cx="2011680" cy="182880"/>
          </a:xfrm>
          <a:prstGeom prst="rect">
            <a:avLst/>
          </a:prstGeom>
          <a:noFill/>
        </p:spPr>
        <p:txBody>
          <a:bodyPr wrap="square"/>
          <a:lstStyle/>
          <a:p>
            <a:pPr algn="l"/>
            <a:r>
              <a:rPr sz="1000" b="1" i="0" spc="180">
                <a:solidFill>
                  <a:srgbClr val="B91C1C"/>
                </a:solidFill>
                <a:latin typeface="Calibri"/>
              </a:rPr>
              <a:t>BEFORE</a:t>
            </a:r>
          </a:p>
        </p:txBody>
      </p:sp>
      <p:sp>
        <p:nvSpPr>
          <p:cNvPr id="9" name="Rounded Rectangle 8"/>
          <p:cNvSpPr/>
          <p:nvPr/>
        </p:nvSpPr>
        <p:spPr>
          <a:xfrm>
            <a:off x="365760" y="1115568"/>
            <a:ext cx="3649370" cy="402336"/>
          </a:xfrm>
          <a:prstGeom prst="roundRect">
            <a:avLst>
              <a:gd name="adj" fmla="val 8000"/>
            </a:avLst>
          </a:prstGeom>
          <a:solidFill>
            <a:srgbClr val="FEF2F2"/>
          </a:solidFill>
          <a:ln w="12700">
            <a:solidFill>
              <a:srgbClr val="FE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0624" y="1170432"/>
            <a:ext cx="3539642" cy="292608"/>
          </a:xfrm>
          <a:prstGeom prst="rect">
            <a:avLst/>
          </a:prstGeom>
          <a:noFill/>
        </p:spPr>
        <p:txBody>
          <a:bodyPr wrap="square"/>
          <a:lstStyle/>
          <a:p>
            <a:pPr algn="ctr"/>
            <a:r>
              <a:rPr sz="1100" b="1" i="0">
                <a:solidFill>
                  <a:srgbClr val="B91C1C"/>
                </a:solidFill>
                <a:latin typeface="Calibri"/>
              </a:rPr>
              <a:t>Paper / email</a:t>
            </a:r>
          </a:p>
        </p:txBody>
      </p:sp>
      <p:sp>
        <p:nvSpPr>
          <p:cNvPr id="11" name="Right Arrow 10"/>
          <p:cNvSpPr/>
          <p:nvPr/>
        </p:nvSpPr>
        <p:spPr>
          <a:xfrm>
            <a:off x="4051706" y="1252728"/>
            <a:ext cx="182880" cy="128016"/>
          </a:xfrm>
          <a:prstGeom prst="rightArrow">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271162" y="1115568"/>
            <a:ext cx="3649370" cy="402336"/>
          </a:xfrm>
          <a:prstGeom prst="roundRect">
            <a:avLst>
              <a:gd name="adj" fmla="val 8000"/>
            </a:avLst>
          </a:prstGeom>
          <a:solidFill>
            <a:srgbClr val="FEF2F2"/>
          </a:solidFill>
          <a:ln w="12700">
            <a:solidFill>
              <a:srgbClr val="FE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26026" y="1170432"/>
            <a:ext cx="3539642" cy="292608"/>
          </a:xfrm>
          <a:prstGeom prst="rect">
            <a:avLst/>
          </a:prstGeom>
          <a:noFill/>
        </p:spPr>
        <p:txBody>
          <a:bodyPr wrap="square"/>
          <a:lstStyle/>
          <a:p>
            <a:pPr algn="ctr"/>
            <a:r>
              <a:rPr sz="1100" b="1" i="0">
                <a:solidFill>
                  <a:srgbClr val="B91C1C"/>
                </a:solidFill>
                <a:latin typeface="Calibri"/>
              </a:rPr>
              <a:t>Ops / ELAN encode</a:t>
            </a:r>
          </a:p>
        </p:txBody>
      </p:sp>
      <p:sp>
        <p:nvSpPr>
          <p:cNvPr id="14" name="Right Arrow 13"/>
          <p:cNvSpPr/>
          <p:nvPr/>
        </p:nvSpPr>
        <p:spPr>
          <a:xfrm>
            <a:off x="7957108" y="1252728"/>
            <a:ext cx="182880" cy="128016"/>
          </a:xfrm>
          <a:prstGeom prst="rightArrow">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76564" y="1115568"/>
            <a:ext cx="3649370" cy="402336"/>
          </a:xfrm>
          <a:prstGeom prst="roundRect">
            <a:avLst>
              <a:gd name="adj" fmla="val 8000"/>
            </a:avLst>
          </a:prstGeom>
          <a:solidFill>
            <a:srgbClr val="FEF2F2"/>
          </a:solidFill>
          <a:ln w="12700">
            <a:solidFill>
              <a:srgbClr val="FE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31428" y="1170432"/>
            <a:ext cx="3539642" cy="292608"/>
          </a:xfrm>
          <a:prstGeom prst="rect">
            <a:avLst/>
          </a:prstGeom>
          <a:noFill/>
        </p:spPr>
        <p:txBody>
          <a:bodyPr wrap="square"/>
          <a:lstStyle/>
          <a:p>
            <a:pPr algn="ctr"/>
            <a:r>
              <a:rPr sz="1100" b="1" i="0">
                <a:solidFill>
                  <a:srgbClr val="B91C1C"/>
                </a:solidFill>
                <a:latin typeface="Calibri"/>
              </a:rPr>
              <a:t>CMS deny</a:t>
            </a:r>
          </a:p>
        </p:txBody>
      </p:sp>
      <p:sp>
        <p:nvSpPr>
          <p:cNvPr id="17" name="TextBox 16"/>
          <p:cNvSpPr txBox="1"/>
          <p:nvPr/>
        </p:nvSpPr>
        <p:spPr>
          <a:xfrm>
            <a:off x="365760" y="1591056"/>
            <a:ext cx="2011680" cy="182880"/>
          </a:xfrm>
          <a:prstGeom prst="rect">
            <a:avLst/>
          </a:prstGeom>
          <a:noFill/>
        </p:spPr>
        <p:txBody>
          <a:bodyPr wrap="square"/>
          <a:lstStyle/>
          <a:p>
            <a:pPr algn="l"/>
            <a:r>
              <a:rPr sz="1000" b="1" i="0" spc="180">
                <a:solidFill>
                  <a:srgbClr val="047857"/>
                </a:solidFill>
                <a:latin typeface="Calibri"/>
              </a:rPr>
              <a:t>AFTER</a:t>
            </a:r>
          </a:p>
        </p:txBody>
      </p:sp>
      <p:sp>
        <p:nvSpPr>
          <p:cNvPr id="18" name="Rounded Rectangle 17"/>
          <p:cNvSpPr/>
          <p:nvPr/>
        </p:nvSpPr>
        <p:spPr>
          <a:xfrm>
            <a:off x="365760" y="1773936"/>
            <a:ext cx="3649370" cy="402336"/>
          </a:xfrm>
          <a:prstGeom prst="roundRect">
            <a:avLst>
              <a:gd name="adj" fmla="val 8000"/>
            </a:avLst>
          </a:prstGeom>
          <a:solidFill>
            <a:srgbClr val="F9FAFB"/>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20624" y="1828800"/>
            <a:ext cx="3539642" cy="292608"/>
          </a:xfrm>
          <a:prstGeom prst="rect">
            <a:avLst/>
          </a:prstGeom>
          <a:noFill/>
        </p:spPr>
        <p:txBody>
          <a:bodyPr wrap="square"/>
          <a:lstStyle/>
          <a:p>
            <a:pPr algn="ctr"/>
            <a:r>
              <a:rPr sz="1100" b="1" i="0">
                <a:solidFill>
                  <a:srgbClr val="111827"/>
                </a:solidFill>
                <a:latin typeface="Calibri"/>
              </a:rPr>
              <a:t>High-volume PIS</a:t>
            </a:r>
          </a:p>
        </p:txBody>
      </p:sp>
      <p:sp>
        <p:nvSpPr>
          <p:cNvPr id="20" name="Right Arrow 19"/>
          <p:cNvSpPr/>
          <p:nvPr/>
        </p:nvSpPr>
        <p:spPr>
          <a:xfrm>
            <a:off x="4051706" y="1911096"/>
            <a:ext cx="182880" cy="128016"/>
          </a:xfrm>
          <a:prstGeom prst="rightArrow">
            <a:avLst/>
          </a:prstGeom>
          <a:solidFill>
            <a:srgbClr val="047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271162" y="1773936"/>
            <a:ext cx="3649370" cy="402336"/>
          </a:xfrm>
          <a:prstGeom prst="roundRect">
            <a:avLst>
              <a:gd name="adj" fmla="val 8000"/>
            </a:avLst>
          </a:prstGeom>
          <a:solidFill>
            <a:srgbClr val="ECFDF5"/>
          </a:solidFill>
          <a:ln w="12700">
            <a:solidFill>
              <a:srgbClr val="ECFD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26026" y="1828800"/>
            <a:ext cx="3539642" cy="292608"/>
          </a:xfrm>
          <a:prstGeom prst="rect">
            <a:avLst/>
          </a:prstGeom>
          <a:noFill/>
        </p:spPr>
        <p:txBody>
          <a:bodyPr wrap="square"/>
          <a:lstStyle/>
          <a:p>
            <a:pPr algn="ctr"/>
            <a:r>
              <a:rPr sz="1100" b="1" i="0">
                <a:solidFill>
                  <a:srgbClr val="047857"/>
                </a:solidFill>
                <a:latin typeface="Calibri"/>
              </a:rPr>
              <a:t>★ Validation</a:t>
            </a:r>
          </a:p>
        </p:txBody>
      </p:sp>
      <p:sp>
        <p:nvSpPr>
          <p:cNvPr id="23" name="Right Arrow 22"/>
          <p:cNvSpPr/>
          <p:nvPr/>
        </p:nvSpPr>
        <p:spPr>
          <a:xfrm>
            <a:off x="7957108" y="1911096"/>
            <a:ext cx="182880" cy="128016"/>
          </a:xfrm>
          <a:prstGeom prst="rightArrow">
            <a:avLst/>
          </a:prstGeom>
          <a:solidFill>
            <a:srgbClr val="047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176564" y="1773936"/>
            <a:ext cx="3649370" cy="402336"/>
          </a:xfrm>
          <a:prstGeom prst="roundRect">
            <a:avLst>
              <a:gd name="adj" fmla="val 8000"/>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31428" y="1828800"/>
            <a:ext cx="3539642" cy="292608"/>
          </a:xfrm>
          <a:prstGeom prst="rect">
            <a:avLst/>
          </a:prstGeom>
          <a:noFill/>
        </p:spPr>
        <p:txBody>
          <a:bodyPr wrap="square"/>
          <a:lstStyle/>
          <a:p>
            <a:pPr algn="ctr"/>
            <a:r>
              <a:rPr sz="1100" b="1" i="0">
                <a:solidFill>
                  <a:srgbClr val="6B7280"/>
                </a:solidFill>
                <a:latin typeface="Calibri"/>
              </a:rPr>
              <a:t>CMS</a:t>
            </a:r>
          </a:p>
        </p:txBody>
      </p:sp>
      <p:sp>
        <p:nvSpPr>
          <p:cNvPr id="26" name="Rounded Rectangle 25"/>
          <p:cNvSpPr/>
          <p:nvPr/>
        </p:nvSpPr>
        <p:spPr>
          <a:xfrm>
            <a:off x="365760" y="2286000"/>
            <a:ext cx="11460175" cy="384048"/>
          </a:xfrm>
          <a:prstGeom prst="roundRect">
            <a:avLst>
              <a:gd name="adj" fmla="val 8000"/>
            </a:avLst>
          </a:prstGeom>
          <a:solidFill>
            <a:srgbClr val="F5F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 y="2359152"/>
            <a:ext cx="11057839" cy="256032"/>
          </a:xfrm>
          <a:prstGeom prst="rect">
            <a:avLst/>
          </a:prstGeom>
          <a:noFill/>
        </p:spPr>
        <p:txBody>
          <a:bodyPr wrap="square"/>
          <a:lstStyle/>
          <a:p>
            <a:pPr algn="l"/>
            <a:r>
              <a:rPr sz="1400" b="1" i="0">
                <a:solidFill>
                  <a:srgbClr val="7C3AED"/>
                </a:solidFill>
                <a:latin typeface="Calibri"/>
              </a:rPr>
              <a:t>Not a training problem. Architecture blocked the 25 providers who were 50% of paper.</a:t>
            </a:r>
          </a:p>
        </p:txBody>
      </p:sp>
      <p:sp>
        <p:nvSpPr>
          <p:cNvPr id="28" name="Rounded Rectangle 27"/>
          <p:cNvSpPr/>
          <p:nvPr/>
        </p:nvSpPr>
        <p:spPr>
          <a:xfrm>
            <a:off x="365760" y="2779776"/>
            <a:ext cx="5647791" cy="1280160"/>
          </a:xfrm>
          <a:prstGeom prst="roundRect">
            <a:avLst>
              <a:gd name="adj" fmla="val 8000"/>
            </a:avLst>
          </a:prstGeom>
          <a:solidFill>
            <a:srgbClr val="FEF2F2"/>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8640" y="2889504"/>
            <a:ext cx="5282031" cy="1078992"/>
          </a:xfrm>
          <a:prstGeom prst="rect">
            <a:avLst/>
          </a:prstGeom>
          <a:noFill/>
        </p:spPr>
        <p:txBody>
          <a:bodyPr wrap="square"/>
          <a:lstStyle/>
          <a:p>
            <a:r>
              <a:rPr sz="1000" b="1" i="0" spc="180">
                <a:solidFill>
                  <a:srgbClr val="B91C1C"/>
                </a:solidFill>
                <a:latin typeface="Calibri"/>
              </a:rPr>
              <a:t>PROBLEM</a:t>
            </a:r>
          </a:p>
          <a:p>
            <a:pPr>
              <a:spcBef>
                <a:spcPts val="400"/>
              </a:spcBef>
            </a:pPr>
            <a:r>
              <a:rPr sz="1200" b="0" i="0">
                <a:solidFill>
                  <a:srgbClr val="111827"/>
                </a:solidFill>
                <a:latin typeface="Calibri"/>
              </a:rPr>
              <a:t>$500K ops cost; 60% denials</a:t>
            </a:r>
          </a:p>
          <a:p>
            <a:pPr>
              <a:spcBef>
                <a:spcPts val="400"/>
              </a:spcBef>
            </a:pPr>
            <a:r>
              <a:rPr sz="1200" b="0" i="0">
                <a:solidFill>
                  <a:srgbClr val="111827"/>
                </a:solidFill>
                <a:latin typeface="Calibri"/>
              </a:rPr>
              <a:t>Providers cleaning up after deny</a:t>
            </a:r>
          </a:p>
          <a:p>
            <a:pPr>
              <a:spcBef>
                <a:spcPts val="400"/>
              </a:spcBef>
            </a:pPr>
            <a:r>
              <a:rPr sz="1200" b="0" i="0">
                <a:solidFill>
                  <a:srgbClr val="111827"/>
                </a:solidFill>
                <a:latin typeface="Calibri"/>
              </a:rPr>
              <a:t>Delayed pay / physio pre-auth</a:t>
            </a:r>
          </a:p>
          <a:p>
            <a:pPr>
              <a:spcBef>
                <a:spcPts val="400"/>
              </a:spcBef>
            </a:pPr>
            <a:r>
              <a:rPr sz="1200" b="0" i="0">
                <a:solidFill>
                  <a:srgbClr val="111827"/>
                </a:solidFill>
                <a:latin typeface="Calibri"/>
              </a:rPr>
              <a:t>Paying a vendor to transcribe a “digital” channel</a:t>
            </a:r>
          </a:p>
        </p:txBody>
      </p:sp>
      <p:sp>
        <p:nvSpPr>
          <p:cNvPr id="30" name="Rounded Rectangle 29"/>
          <p:cNvSpPr/>
          <p:nvPr/>
        </p:nvSpPr>
        <p:spPr>
          <a:xfrm>
            <a:off x="6178143" y="2779776"/>
            <a:ext cx="5647791" cy="1280160"/>
          </a:xfrm>
          <a:prstGeom prst="roundRect">
            <a:avLst>
              <a:gd name="adj" fmla="val 8000"/>
            </a:avLst>
          </a:prstGeom>
          <a:solidFill>
            <a:srgbClr val="ECFDF5"/>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61023" y="2889504"/>
            <a:ext cx="5282031" cy="1078992"/>
          </a:xfrm>
          <a:prstGeom prst="rect">
            <a:avLst/>
          </a:prstGeom>
          <a:noFill/>
        </p:spPr>
        <p:txBody>
          <a:bodyPr wrap="square"/>
          <a:lstStyle/>
          <a:p>
            <a:r>
              <a:rPr sz="1000" b="1" i="0" spc="180">
                <a:solidFill>
                  <a:srgbClr val="047857"/>
                </a:solidFill>
                <a:latin typeface="Calibri"/>
              </a:rPr>
              <a:t>DISCOVERY</a:t>
            </a:r>
          </a:p>
          <a:p>
            <a:pPr>
              <a:spcBef>
                <a:spcPts val="400"/>
              </a:spcBef>
            </a:pPr>
            <a:r>
              <a:rPr sz="1200" b="0" i="0">
                <a:solidFill>
                  <a:srgbClr val="111827"/>
                </a:solidFill>
                <a:latin typeface="Calibri"/>
              </a:rPr>
              <a:t>Ops: marketing / pay-to-use / tax paper</a:t>
            </a:r>
          </a:p>
          <a:p>
            <a:pPr>
              <a:spcBef>
                <a:spcPts val="400"/>
              </a:spcBef>
            </a:pPr>
            <a:r>
              <a:rPr sz="1200" b="0" i="0">
                <a:solidFill>
                  <a:srgbClr val="111827"/>
                </a:solidFill>
                <a:latin typeface="Calibri"/>
              </a:rPr>
              <a:t>Product: 1-claim / 32-line vs ~1000 multi-claim</a:t>
            </a:r>
          </a:p>
          <a:p>
            <a:pPr>
              <a:spcBef>
                <a:spcPts val="400"/>
              </a:spcBef>
            </a:pPr>
            <a:r>
              <a:rPr sz="1200" b="0" i="0">
                <a:solidFill>
                  <a:srgbClr val="111827"/>
                </a:solidFill>
                <a:latin typeface="Calibri"/>
              </a:rPr>
              <a:t>25 orgs = 50% of paper, similar workflow</a:t>
            </a:r>
          </a:p>
          <a:p>
            <a:pPr>
              <a:spcBef>
                <a:spcPts val="400"/>
              </a:spcBef>
            </a:pPr>
            <a:r>
              <a:rPr sz="1200" b="0" i="0">
                <a:solidFill>
                  <a:srgbClr val="111827"/>
                </a:solidFill>
                <a:latin typeface="Calibri"/>
              </a:rPr>
              <a:t>Segment + workflow, not features for the average user</a:t>
            </a:r>
          </a:p>
        </p:txBody>
      </p:sp>
      <p:sp>
        <p:nvSpPr>
          <p:cNvPr id="32" name="Rounded Rectangle 31"/>
          <p:cNvSpPr/>
          <p:nvPr/>
        </p:nvSpPr>
        <p:spPr>
          <a:xfrm>
            <a:off x="365760" y="4187952"/>
            <a:ext cx="3710330" cy="1225296"/>
          </a:xfrm>
          <a:prstGeom prst="roundRect">
            <a:avLst>
              <a:gd name="adj" fmla="val 8000"/>
            </a:avLst>
          </a:prstGeom>
          <a:solidFill>
            <a:srgbClr val="F9FAFB"/>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48640" y="4297680"/>
            <a:ext cx="3344570" cy="1024128"/>
          </a:xfrm>
          <a:prstGeom prst="rect">
            <a:avLst/>
          </a:prstGeom>
          <a:noFill/>
        </p:spPr>
        <p:txBody>
          <a:bodyPr wrap="square"/>
          <a:lstStyle/>
          <a:p>
            <a:r>
              <a:rPr sz="1000" b="1" i="0" spc="180">
                <a:solidFill>
                  <a:srgbClr val="047857"/>
                </a:solidFill>
                <a:latin typeface="Calibri"/>
              </a:rPr>
              <a:t>SHIPPED</a:t>
            </a:r>
          </a:p>
          <a:p>
            <a:pPr>
              <a:spcBef>
                <a:spcPts val="400"/>
              </a:spcBef>
            </a:pPr>
            <a:r>
              <a:rPr sz="1200" b="0" i="0">
                <a:solidFill>
                  <a:srgbClr val="111827"/>
                </a:solidFill>
                <a:latin typeface="Calibri"/>
              </a:rPr>
              <a:t>Fewer screens + multi-claim</a:t>
            </a:r>
          </a:p>
          <a:p>
            <a:pPr>
              <a:spcBef>
                <a:spcPts val="400"/>
              </a:spcBef>
            </a:pPr>
            <a:r>
              <a:rPr sz="1200" b="0" i="0">
                <a:solidFill>
                  <a:srgbClr val="111827"/>
                </a:solidFill>
                <a:latin typeface="Calibri"/>
              </a:rPr>
              <a:t>Fee codes / programs + contract rules at submit</a:t>
            </a:r>
          </a:p>
          <a:p>
            <a:pPr>
              <a:spcBef>
                <a:spcPts val="400"/>
              </a:spcBef>
            </a:pPr>
            <a:r>
              <a:rPr sz="1200" b="0" i="0">
                <a:solidFill>
                  <a:srgbClr val="111827"/>
                </a:solidFill>
                <a:latin typeface="Calibri"/>
              </a:rPr>
              <a:t>1000–2000 line submissions</a:t>
            </a:r>
          </a:p>
          <a:p>
            <a:pPr>
              <a:spcBef>
                <a:spcPts val="400"/>
              </a:spcBef>
            </a:pPr>
            <a:r>
              <a:rPr sz="1200" b="0" i="0">
                <a:solidFill>
                  <a:srgbClr val="111827"/>
                </a:solidFill>
                <a:latin typeface="Calibri"/>
              </a:rPr>
              <a:t>Async CMS + retry</a:t>
            </a:r>
          </a:p>
        </p:txBody>
      </p:sp>
      <p:sp>
        <p:nvSpPr>
          <p:cNvPr id="34" name="Rounded Rectangle 33"/>
          <p:cNvSpPr/>
          <p:nvPr/>
        </p:nvSpPr>
        <p:spPr>
          <a:xfrm>
            <a:off x="4240682" y="4187952"/>
            <a:ext cx="3710330" cy="1225296"/>
          </a:xfrm>
          <a:prstGeom prst="roundRect">
            <a:avLst>
              <a:gd name="adj" fmla="val 8000"/>
            </a:avLst>
          </a:prstGeom>
          <a:solidFill>
            <a:srgbClr val="F9FAFB"/>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423562" y="4297680"/>
            <a:ext cx="3344570" cy="1024128"/>
          </a:xfrm>
          <a:prstGeom prst="rect">
            <a:avLst/>
          </a:prstGeom>
          <a:noFill/>
        </p:spPr>
        <p:txBody>
          <a:bodyPr wrap="square"/>
          <a:lstStyle/>
          <a:p>
            <a:r>
              <a:rPr sz="1000" b="1" i="0" spc="180">
                <a:solidFill>
                  <a:srgbClr val="B91C1C"/>
                </a:solidFill>
                <a:latin typeface="Calibri"/>
              </a:rPr>
              <a:t>LAUNCH / FAILURE</a:t>
            </a:r>
          </a:p>
          <a:p>
            <a:pPr>
              <a:spcBef>
                <a:spcPts val="400"/>
              </a:spcBef>
            </a:pPr>
            <a:r>
              <a:rPr sz="1200" b="0" i="0">
                <a:solidFill>
                  <a:srgbClr val="111827"/>
                </a:solidFill>
                <a:latin typeface="Calibri"/>
              </a:rPr>
              <a:t>10-name dark launch: too slow to submit</a:t>
            </a:r>
          </a:p>
          <a:p>
            <a:pPr>
              <a:spcBef>
                <a:spcPts val="400"/>
              </a:spcBef>
            </a:pPr>
            <a:r>
              <a:rPr sz="1200" b="0" i="0">
                <a:solidFill>
                  <a:srgbClr val="111827"/>
                </a:solidFill>
                <a:latin typeface="Calibri"/>
              </a:rPr>
              <a:t>Optimized capacity, not responsiveness</a:t>
            </a:r>
          </a:p>
          <a:p>
            <a:pPr>
              <a:spcBef>
                <a:spcPts val="400"/>
              </a:spcBef>
            </a:pPr>
            <a:r>
              <a:rPr sz="1200" b="0" i="0">
                <a:solidFill>
                  <a:srgbClr val="111827"/>
                </a:solidFill>
                <a:latin typeface="Calibri"/>
              </a:rPr>
              <a:t>Dual-run v1 live → soft → hard</a:t>
            </a:r>
          </a:p>
        </p:txBody>
      </p:sp>
      <p:sp>
        <p:nvSpPr>
          <p:cNvPr id="36" name="Rounded Rectangle 35"/>
          <p:cNvSpPr/>
          <p:nvPr/>
        </p:nvSpPr>
        <p:spPr>
          <a:xfrm>
            <a:off x="8115604" y="4187952"/>
            <a:ext cx="3710330" cy="1225296"/>
          </a:xfrm>
          <a:prstGeom prst="roundRect">
            <a:avLst>
              <a:gd name="adj" fmla="val 8000"/>
            </a:avLst>
          </a:prstGeom>
          <a:solidFill>
            <a:srgbClr val="F9FAFB"/>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298484" y="4297680"/>
            <a:ext cx="3344570" cy="1024128"/>
          </a:xfrm>
          <a:prstGeom prst="rect">
            <a:avLst/>
          </a:prstGeom>
          <a:noFill/>
        </p:spPr>
        <p:txBody>
          <a:bodyPr wrap="square"/>
          <a:lstStyle/>
          <a:p>
            <a:r>
              <a:rPr sz="1000" b="1" i="0" spc="180">
                <a:solidFill>
                  <a:srgbClr val="111827"/>
                </a:solidFill>
                <a:latin typeface="Calibri"/>
              </a:rPr>
              <a:t>TRADEOFFS</a:t>
            </a:r>
          </a:p>
          <a:p>
            <a:pPr>
              <a:spcBef>
                <a:spcPts val="400"/>
              </a:spcBef>
            </a:pPr>
            <a:r>
              <a:rPr sz="1200" b="0" i="0">
                <a:solidFill>
                  <a:srgbClr val="111827"/>
                </a:solidFill>
                <a:latin typeface="Calibri"/>
              </a:rPr>
              <a:t>25 similar-workflow first vs all providers</a:t>
            </a:r>
          </a:p>
          <a:p>
            <a:pPr>
              <a:spcBef>
                <a:spcPts val="400"/>
              </a:spcBef>
            </a:pPr>
            <a:r>
              <a:rPr sz="1200" b="0" i="0">
                <a:solidFill>
                  <a:srgbClr val="111827"/>
                </a:solidFill>
                <a:latin typeface="Calibri"/>
              </a:rPr>
              <a:t>Dark/dual vs big bang → dual-run</a:t>
            </a:r>
          </a:p>
          <a:p>
            <a:pPr>
              <a:spcBef>
                <a:spcPts val="400"/>
              </a:spcBef>
            </a:pPr>
            <a:r>
              <a:rPr sz="1200" b="0" i="0">
                <a:solidFill>
                  <a:srgbClr val="111827"/>
                </a:solidFill>
                <a:latin typeface="Calibri"/>
              </a:rPr>
              <a:t>Portal vs EMR; sync vs async → async</a:t>
            </a:r>
          </a:p>
        </p:txBody>
      </p:sp>
      <p:sp>
        <p:nvSpPr>
          <p:cNvPr id="38" name="Rounded Rectangle 37"/>
          <p:cNvSpPr/>
          <p:nvPr/>
        </p:nvSpPr>
        <p:spPr>
          <a:xfrm>
            <a:off x="365760" y="5541264"/>
            <a:ext cx="7818120" cy="713232"/>
          </a:xfrm>
          <a:prstGeom prst="roundRect">
            <a:avLst>
              <a:gd name="adj" fmla="val 8000"/>
            </a:avLst>
          </a:prstGeom>
          <a:solidFill>
            <a:srgbClr val="ECF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66928" y="5632704"/>
            <a:ext cx="7452360" cy="164592"/>
          </a:xfrm>
          <a:prstGeom prst="rect">
            <a:avLst/>
          </a:prstGeom>
          <a:noFill/>
        </p:spPr>
        <p:txBody>
          <a:bodyPr wrap="square"/>
          <a:lstStyle/>
          <a:p>
            <a:pPr algn="l"/>
            <a:r>
              <a:rPr sz="1000" b="1" i="0" spc="180">
                <a:solidFill>
                  <a:srgbClr val="047857"/>
                </a:solidFill>
                <a:latin typeface="Calibri"/>
              </a:rPr>
              <a:t>OUTCOME</a:t>
            </a:r>
          </a:p>
        </p:txBody>
      </p:sp>
      <p:sp>
        <p:nvSpPr>
          <p:cNvPr id="40" name="TextBox 39"/>
          <p:cNvSpPr txBox="1"/>
          <p:nvPr/>
        </p:nvSpPr>
        <p:spPr>
          <a:xfrm>
            <a:off x="566928" y="5833872"/>
            <a:ext cx="7452360" cy="329184"/>
          </a:xfrm>
          <a:prstGeom prst="rect">
            <a:avLst/>
          </a:prstGeom>
          <a:noFill/>
        </p:spPr>
        <p:txBody>
          <a:bodyPr wrap="square"/>
          <a:lstStyle/>
          <a:p>
            <a:pPr algn="l"/>
            <a:r>
              <a:rPr sz="1300" b="1" i="0">
                <a:solidFill>
                  <a:srgbClr val="111827"/>
                </a:solidFill>
                <a:latin typeface="Calibri"/>
              </a:rPr>
              <a:t>Invalid −40% (user)    ·    Adoption +60% (behavior)    ·    $200K ops saved (business)</a:t>
            </a:r>
          </a:p>
        </p:txBody>
      </p:sp>
      <p:sp>
        <p:nvSpPr>
          <p:cNvPr id="41" name="Rounded Rectangle 40"/>
          <p:cNvSpPr/>
          <p:nvPr/>
        </p:nvSpPr>
        <p:spPr>
          <a:xfrm>
            <a:off x="8348472" y="5541264"/>
            <a:ext cx="3477463" cy="713232"/>
          </a:xfrm>
          <a:prstGeom prst="roundRect">
            <a:avLst>
              <a:gd name="adj" fmla="val 8000"/>
            </a:avLst>
          </a:prstGeom>
          <a:solidFill>
            <a:srgbClr val="F9FAFB"/>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513064" y="5632704"/>
            <a:ext cx="3184855" cy="164592"/>
          </a:xfrm>
          <a:prstGeom prst="rect">
            <a:avLst/>
          </a:prstGeom>
          <a:noFill/>
        </p:spPr>
        <p:txBody>
          <a:bodyPr wrap="square"/>
          <a:lstStyle/>
          <a:p>
            <a:pPr algn="l"/>
            <a:r>
              <a:rPr sz="1000" b="1" i="0" spc="180">
                <a:solidFill>
                  <a:srgbClr val="6B7280"/>
                </a:solidFill>
                <a:latin typeface="Calibri"/>
              </a:rPr>
              <a:t>WHY THIS MATTERS</a:t>
            </a:r>
          </a:p>
        </p:txBody>
      </p:sp>
      <p:sp>
        <p:nvSpPr>
          <p:cNvPr id="43" name="TextBox 42"/>
          <p:cNvSpPr txBox="1"/>
          <p:nvPr/>
        </p:nvSpPr>
        <p:spPr>
          <a:xfrm>
            <a:off x="8513064" y="5815584"/>
            <a:ext cx="3184855" cy="365760"/>
          </a:xfrm>
          <a:prstGeom prst="rect">
            <a:avLst/>
          </a:prstGeom>
          <a:noFill/>
        </p:spPr>
        <p:txBody>
          <a:bodyPr wrap="square"/>
          <a:lstStyle/>
          <a:p>
            <a:pPr algn="l"/>
            <a:r>
              <a:rPr sz="1200" b="0" i="0">
                <a:solidFill>
                  <a:srgbClr val="111827"/>
                </a:solidFill>
                <a:latin typeface="Calibri"/>
              </a:rPr>
              <a:t>Denial and ops cost start at submit, not at marketing.</a:t>
            </a:r>
          </a:p>
        </p:txBody>
      </p:sp>
      <p:sp>
        <p:nvSpPr>
          <p:cNvPr id="44" name="TextBox 43"/>
          <p:cNvSpPr txBox="1"/>
          <p:nvPr/>
        </p:nvSpPr>
        <p:spPr>
          <a:xfrm>
            <a:off x="365760" y="6291072"/>
            <a:ext cx="11460175" cy="201168"/>
          </a:xfrm>
          <a:prstGeom prst="rect">
            <a:avLst/>
          </a:prstGeom>
          <a:noFill/>
        </p:spPr>
        <p:txBody>
          <a:bodyPr wrap="square"/>
          <a:lstStyle/>
          <a:p>
            <a:pPr algn="l"/>
            <a:r>
              <a:rPr sz="1000" b="0" i="0">
                <a:solidFill>
                  <a:srgbClr val="6B7280"/>
                </a:solidFill>
                <a:latin typeface="Calibri"/>
              </a:rPr>
              <a:t>Missed: no auto-correct / rules not reconfigurable    ·    no sandbox vs live CMS deny    ·    bulk multi-claim (didn’t push line-level pay)</a:t>
            </a:r>
          </a:p>
        </p:txBody>
      </p:sp>
      <p:sp>
        <p:nvSpPr>
          <p:cNvPr id="45" name="TextBox 44"/>
          <p:cNvSpPr txBox="1"/>
          <p:nvPr/>
        </p:nvSpPr>
        <p:spPr>
          <a:xfrm>
            <a:off x="365760" y="6565392"/>
            <a:ext cx="7863840" cy="201168"/>
          </a:xfrm>
          <a:prstGeom prst="rect">
            <a:avLst/>
          </a:prstGeom>
          <a:noFill/>
        </p:spPr>
        <p:txBody>
          <a:bodyPr wrap="square"/>
          <a:lstStyle/>
          <a:p>
            <a:pPr algn="l"/>
            <a:r>
              <a:rPr sz="1000" b="0" i="0">
                <a:solidFill>
                  <a:srgbClr val="6B7280"/>
                </a:solidFill>
                <a:latin typeface="Calibri"/>
              </a:rPr>
              <a:t>Healthcare systems fail upstream. I fix input quality instead of scaling downstream ops.    ·    1/6</a:t>
            </a:r>
          </a:p>
        </p:txBody>
      </p:sp>
      <p:sp>
        <p:nvSpPr>
          <p:cNvPr id="46" name="TextBox 45"/>
          <p:cNvSpPr txBox="1"/>
          <p:nvPr/>
        </p:nvSpPr>
        <p:spPr>
          <a:xfrm>
            <a:off x="8321040" y="6565392"/>
            <a:ext cx="3474720" cy="201168"/>
          </a:xfrm>
          <a:prstGeom prst="rect">
            <a:avLst/>
          </a:prstGeom>
          <a:noFill/>
        </p:spPr>
        <p:txBody>
          <a:bodyPr wrap="square"/>
          <a:lstStyle/>
          <a:p>
            <a:pPr algn="r"/>
            <a:r>
              <a:rPr sz="1000" b="0" i="0">
                <a:solidFill>
                  <a:srgbClr val="6B7280"/>
                </a:solidFill>
                <a:latin typeface="Calibri"/>
              </a:rPr>
              <a:t>Scope  25-org Pareto · legacy Kendo / CMS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114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11460175" cy="164592"/>
          </a:xfrm>
          <a:prstGeom prst="rect">
            <a:avLst/>
          </a:prstGeom>
          <a:noFill/>
        </p:spPr>
        <p:txBody>
          <a:bodyPr wrap="square"/>
          <a:lstStyle/>
          <a:p>
            <a:pPr algn="l"/>
            <a:r>
              <a:rPr sz="1000" b="1" i="0" spc="200">
                <a:solidFill>
                  <a:srgbClr val="7C3AED"/>
                </a:solidFill>
                <a:latin typeface="Calibri"/>
              </a:rPr>
              <a:t>2  ·  INTEGRATIONS</a:t>
            </a:r>
          </a:p>
        </p:txBody>
      </p:sp>
      <p:sp>
        <p:nvSpPr>
          <p:cNvPr id="5" name="TextBox 4"/>
          <p:cNvSpPr txBox="1"/>
          <p:nvPr/>
        </p:nvSpPr>
        <p:spPr>
          <a:xfrm>
            <a:off x="365760" y="237744"/>
            <a:ext cx="11460175" cy="310896"/>
          </a:xfrm>
          <a:prstGeom prst="rect">
            <a:avLst/>
          </a:prstGeom>
          <a:noFill/>
        </p:spPr>
        <p:txBody>
          <a:bodyPr wrap="square"/>
          <a:lstStyle/>
          <a:p>
            <a:pPr algn="l"/>
            <a:r>
              <a:rPr sz="2200" b="1" i="0">
                <a:solidFill>
                  <a:srgbClr val="111827"/>
                </a:solidFill>
                <a:latin typeface="Calibri"/>
              </a:rPr>
              <a:t>InfoX — Clinical data trapped in a billing spec</a:t>
            </a:r>
          </a:p>
        </p:txBody>
      </p:sp>
      <p:sp>
        <p:nvSpPr>
          <p:cNvPr id="6" name="TextBox 5"/>
          <p:cNvSpPr txBox="1"/>
          <p:nvPr/>
        </p:nvSpPr>
        <p:spPr>
          <a:xfrm>
            <a:off x="365760" y="530352"/>
            <a:ext cx="11460175" cy="164592"/>
          </a:xfrm>
          <a:prstGeom prst="rect">
            <a:avLst/>
          </a:prstGeom>
          <a:noFill/>
        </p:spPr>
        <p:txBody>
          <a:bodyPr wrap="square"/>
          <a:lstStyle/>
          <a:p>
            <a:r>
              <a:rPr sz="1000" b="1" i="0">
                <a:solidFill>
                  <a:srgbClr val="6B7280"/>
                </a:solidFill>
                <a:latin typeface="Calibri"/>
              </a:rPr>
              <a:t>User  </a:t>
            </a:r>
            <a:r>
              <a:rPr sz="1000" b="0" i="0">
                <a:solidFill>
                  <a:srgbClr val="6B7280"/>
                </a:solidFill>
                <a:latin typeface="Calibri"/>
              </a:rPr>
              <a:t>GPs documenting in the EMR     ·     </a:t>
            </a:r>
            <a:r>
              <a:rPr sz="1000" b="1" i="0">
                <a:solidFill>
                  <a:srgbClr val="6B7280"/>
                </a:solidFill>
                <a:latin typeface="Calibri"/>
              </a:rPr>
              <a:t>Business  </a:t>
            </a:r>
            <a:r>
              <a:rPr sz="1000" b="0" i="0">
                <a:solidFill>
                  <a:srgbClr val="6B7280"/>
                </a:solidFill>
                <a:latin typeface="Calibri"/>
              </a:rPr>
              <a:t>52K faxes/yr · ~$250K re-key     ·     </a:t>
            </a:r>
            <a:r>
              <a:rPr sz="1000" b="1" i="0">
                <a:solidFill>
                  <a:srgbClr val="6B7280"/>
                </a:solidFill>
                <a:latin typeface="Calibri"/>
              </a:rPr>
              <a:t>Trigger  </a:t>
            </a:r>
            <a:r>
              <a:rPr sz="1000" b="0" i="0">
                <a:solidFill>
                  <a:srgbClr val="6B7280"/>
                </a:solidFill>
                <a:latin typeface="Calibri"/>
              </a:rPr>
              <a:t>Notes truncated by 2001 HIBC</a:t>
            </a:r>
          </a:p>
        </p:txBody>
      </p:sp>
      <p:sp>
        <p:nvSpPr>
          <p:cNvPr id="7" name="TextBox 6"/>
          <p:cNvSpPr txBox="1"/>
          <p:nvPr/>
        </p:nvSpPr>
        <p:spPr>
          <a:xfrm>
            <a:off x="365760" y="676656"/>
            <a:ext cx="11460175" cy="164592"/>
          </a:xfrm>
          <a:prstGeom prst="rect">
            <a:avLst/>
          </a:prstGeom>
          <a:noFill/>
        </p:spPr>
        <p:txBody>
          <a:bodyPr wrap="square"/>
          <a:lstStyle/>
          <a:p>
            <a:pPr algn="l"/>
            <a:r>
              <a:rPr sz="1100" b="0" i="1">
                <a:solidFill>
                  <a:srgbClr val="6B7280"/>
                </a:solidFill>
                <a:latin typeface="Calibri"/>
              </a:rPr>
              <a:t>Assumed a better form or a portal. GPs will not leave the EMR.</a:t>
            </a:r>
          </a:p>
        </p:txBody>
      </p:sp>
      <p:sp>
        <p:nvSpPr>
          <p:cNvPr id="8" name="TextBox 7"/>
          <p:cNvSpPr txBox="1"/>
          <p:nvPr/>
        </p:nvSpPr>
        <p:spPr>
          <a:xfrm>
            <a:off x="365760" y="932688"/>
            <a:ext cx="2011680" cy="182880"/>
          </a:xfrm>
          <a:prstGeom prst="rect">
            <a:avLst/>
          </a:prstGeom>
          <a:noFill/>
        </p:spPr>
        <p:txBody>
          <a:bodyPr wrap="square"/>
          <a:lstStyle/>
          <a:p>
            <a:pPr algn="l"/>
            <a:r>
              <a:rPr sz="1000" b="1" i="0" spc="180">
                <a:solidFill>
                  <a:srgbClr val="B91C1C"/>
                </a:solidFill>
                <a:latin typeface="Calibri"/>
              </a:rPr>
              <a:t>BEFORE</a:t>
            </a:r>
          </a:p>
        </p:txBody>
      </p:sp>
      <p:sp>
        <p:nvSpPr>
          <p:cNvPr id="9" name="Rounded Rectangle 8"/>
          <p:cNvSpPr/>
          <p:nvPr/>
        </p:nvSpPr>
        <p:spPr>
          <a:xfrm>
            <a:off x="365760" y="1115568"/>
            <a:ext cx="2087209" cy="402336"/>
          </a:xfrm>
          <a:prstGeom prst="roundRect">
            <a:avLst>
              <a:gd name="adj" fmla="val 8000"/>
            </a:avLst>
          </a:prstGeom>
          <a:solidFill>
            <a:srgbClr val="F9FAFB"/>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0624" y="1170432"/>
            <a:ext cx="1977481" cy="292608"/>
          </a:xfrm>
          <a:prstGeom prst="rect">
            <a:avLst/>
          </a:prstGeom>
          <a:noFill/>
        </p:spPr>
        <p:txBody>
          <a:bodyPr wrap="square"/>
          <a:lstStyle/>
          <a:p>
            <a:pPr algn="ctr"/>
            <a:r>
              <a:rPr sz="1100" b="1" i="0">
                <a:solidFill>
                  <a:srgbClr val="111827"/>
                </a:solidFill>
                <a:latin typeface="Calibri"/>
              </a:rPr>
              <a:t>Doctor / EMR</a:t>
            </a:r>
          </a:p>
        </p:txBody>
      </p:sp>
      <p:sp>
        <p:nvSpPr>
          <p:cNvPr id="11" name="Right Arrow 10"/>
          <p:cNvSpPr/>
          <p:nvPr/>
        </p:nvSpPr>
        <p:spPr>
          <a:xfrm>
            <a:off x="2489545" y="1252728"/>
            <a:ext cx="182880" cy="128016"/>
          </a:xfrm>
          <a:prstGeom prst="right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709001" y="1115568"/>
            <a:ext cx="2087209" cy="402336"/>
          </a:xfrm>
          <a:prstGeom prst="roundRect">
            <a:avLst>
              <a:gd name="adj" fmla="val 8000"/>
            </a:avLst>
          </a:prstGeom>
          <a:solidFill>
            <a:srgbClr val="F9FAFB"/>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3865" y="1170432"/>
            <a:ext cx="1977481" cy="292608"/>
          </a:xfrm>
          <a:prstGeom prst="rect">
            <a:avLst/>
          </a:prstGeom>
          <a:noFill/>
        </p:spPr>
        <p:txBody>
          <a:bodyPr wrap="square"/>
          <a:lstStyle/>
          <a:p>
            <a:pPr algn="ctr"/>
            <a:r>
              <a:rPr sz="1100" b="1" i="0">
                <a:solidFill>
                  <a:srgbClr val="111827"/>
                </a:solidFill>
                <a:latin typeface="Calibri"/>
              </a:rPr>
              <a:t>PDF / eForm</a:t>
            </a:r>
          </a:p>
        </p:txBody>
      </p:sp>
      <p:sp>
        <p:nvSpPr>
          <p:cNvPr id="14" name="Right Arrow 13"/>
          <p:cNvSpPr/>
          <p:nvPr/>
        </p:nvSpPr>
        <p:spPr>
          <a:xfrm>
            <a:off x="4832786" y="1252728"/>
            <a:ext cx="182880" cy="128016"/>
          </a:xfrm>
          <a:prstGeom prst="rightArrow">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052242" y="1115568"/>
            <a:ext cx="2087209" cy="402336"/>
          </a:xfrm>
          <a:prstGeom prst="roundRect">
            <a:avLst>
              <a:gd name="adj" fmla="val 8000"/>
            </a:avLst>
          </a:prstGeom>
          <a:solidFill>
            <a:srgbClr val="FEF2F2"/>
          </a:solidFill>
          <a:ln w="12700">
            <a:solidFill>
              <a:srgbClr val="FE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07106" y="1170432"/>
            <a:ext cx="1977481" cy="292608"/>
          </a:xfrm>
          <a:prstGeom prst="rect">
            <a:avLst/>
          </a:prstGeom>
          <a:noFill/>
        </p:spPr>
        <p:txBody>
          <a:bodyPr wrap="square"/>
          <a:lstStyle/>
          <a:p>
            <a:pPr algn="ctr"/>
            <a:r>
              <a:rPr sz="1100" b="1" i="0">
                <a:solidFill>
                  <a:srgbClr val="B91C1C"/>
                </a:solidFill>
                <a:latin typeface="Calibri"/>
              </a:rPr>
              <a:t>Fax</a:t>
            </a:r>
          </a:p>
        </p:txBody>
      </p:sp>
      <p:sp>
        <p:nvSpPr>
          <p:cNvPr id="17" name="Right Arrow 16"/>
          <p:cNvSpPr/>
          <p:nvPr/>
        </p:nvSpPr>
        <p:spPr>
          <a:xfrm>
            <a:off x="7176028" y="1252728"/>
            <a:ext cx="182880" cy="128016"/>
          </a:xfrm>
          <a:prstGeom prst="rightArrow">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395484" y="1115568"/>
            <a:ext cx="2087209" cy="402336"/>
          </a:xfrm>
          <a:prstGeom prst="roundRect">
            <a:avLst>
              <a:gd name="adj" fmla="val 8000"/>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50348" y="1170432"/>
            <a:ext cx="1977481" cy="292608"/>
          </a:xfrm>
          <a:prstGeom prst="rect">
            <a:avLst/>
          </a:prstGeom>
          <a:noFill/>
        </p:spPr>
        <p:txBody>
          <a:bodyPr wrap="square"/>
          <a:lstStyle/>
          <a:p>
            <a:pPr algn="ctr"/>
            <a:r>
              <a:rPr sz="1100" b="1" i="0">
                <a:solidFill>
                  <a:srgbClr val="6B7280"/>
                </a:solidFill>
                <a:latin typeface="Calibri"/>
              </a:rPr>
              <a:t>ELAN re-key</a:t>
            </a:r>
          </a:p>
        </p:txBody>
      </p:sp>
      <p:sp>
        <p:nvSpPr>
          <p:cNvPr id="20" name="Right Arrow 19"/>
          <p:cNvSpPr/>
          <p:nvPr/>
        </p:nvSpPr>
        <p:spPr>
          <a:xfrm>
            <a:off x="9519269" y="1252728"/>
            <a:ext cx="182880" cy="128016"/>
          </a:xfrm>
          <a:prstGeom prst="right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738725" y="1115568"/>
            <a:ext cx="2087209" cy="402336"/>
          </a:xfrm>
          <a:prstGeom prst="roundRect">
            <a:avLst>
              <a:gd name="adj" fmla="val 8000"/>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793589" y="1170432"/>
            <a:ext cx="1977481" cy="292608"/>
          </a:xfrm>
          <a:prstGeom prst="rect">
            <a:avLst/>
          </a:prstGeom>
          <a:noFill/>
        </p:spPr>
        <p:txBody>
          <a:bodyPr wrap="square"/>
          <a:lstStyle/>
          <a:p>
            <a:pPr algn="ctr"/>
            <a:r>
              <a:rPr sz="1100" b="1" i="0">
                <a:solidFill>
                  <a:srgbClr val="6B7280"/>
                </a:solidFill>
                <a:latin typeface="Calibri"/>
              </a:rPr>
              <a:t>CMS</a:t>
            </a:r>
          </a:p>
        </p:txBody>
      </p:sp>
      <p:sp>
        <p:nvSpPr>
          <p:cNvPr id="23" name="TextBox 22"/>
          <p:cNvSpPr txBox="1"/>
          <p:nvPr/>
        </p:nvSpPr>
        <p:spPr>
          <a:xfrm>
            <a:off x="365760" y="1591056"/>
            <a:ext cx="2011680" cy="182880"/>
          </a:xfrm>
          <a:prstGeom prst="rect">
            <a:avLst/>
          </a:prstGeom>
          <a:noFill/>
        </p:spPr>
        <p:txBody>
          <a:bodyPr wrap="square"/>
          <a:lstStyle/>
          <a:p>
            <a:pPr algn="l"/>
            <a:r>
              <a:rPr sz="1000" b="1" i="0" spc="180">
                <a:solidFill>
                  <a:srgbClr val="047857"/>
                </a:solidFill>
                <a:latin typeface="Calibri"/>
              </a:rPr>
              <a:t>AFTER</a:t>
            </a:r>
          </a:p>
        </p:txBody>
      </p:sp>
      <p:sp>
        <p:nvSpPr>
          <p:cNvPr id="24" name="Rounded Rectangle 23"/>
          <p:cNvSpPr/>
          <p:nvPr/>
        </p:nvSpPr>
        <p:spPr>
          <a:xfrm>
            <a:off x="365760" y="1773936"/>
            <a:ext cx="2673019" cy="402336"/>
          </a:xfrm>
          <a:prstGeom prst="roundRect">
            <a:avLst>
              <a:gd name="adj" fmla="val 8000"/>
            </a:avLst>
          </a:prstGeom>
          <a:solidFill>
            <a:srgbClr val="F9FAFB"/>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20624" y="1828800"/>
            <a:ext cx="2563291" cy="292608"/>
          </a:xfrm>
          <a:prstGeom prst="rect">
            <a:avLst/>
          </a:prstGeom>
          <a:noFill/>
        </p:spPr>
        <p:txBody>
          <a:bodyPr wrap="square"/>
          <a:lstStyle/>
          <a:p>
            <a:pPr algn="ctr"/>
            <a:r>
              <a:rPr sz="1100" b="1" i="0">
                <a:solidFill>
                  <a:srgbClr val="111827"/>
                </a:solidFill>
                <a:latin typeface="Calibri"/>
              </a:rPr>
              <a:t>EMR eForm</a:t>
            </a:r>
          </a:p>
        </p:txBody>
      </p:sp>
      <p:sp>
        <p:nvSpPr>
          <p:cNvPr id="26" name="Right Arrow 25"/>
          <p:cNvSpPr/>
          <p:nvPr/>
        </p:nvSpPr>
        <p:spPr>
          <a:xfrm>
            <a:off x="3075355" y="1911096"/>
            <a:ext cx="182880" cy="128016"/>
          </a:xfrm>
          <a:prstGeom prst="rightArrow">
            <a:avLst/>
          </a:prstGeom>
          <a:solidFill>
            <a:srgbClr val="047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3294811" y="1773936"/>
            <a:ext cx="2673019" cy="402336"/>
          </a:xfrm>
          <a:prstGeom prst="roundRect">
            <a:avLst>
              <a:gd name="adj" fmla="val 8000"/>
            </a:avLst>
          </a:prstGeom>
          <a:solidFill>
            <a:srgbClr val="ECFDF5"/>
          </a:solidFill>
          <a:ln w="12700">
            <a:solidFill>
              <a:srgbClr val="ECFD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349675" y="1828800"/>
            <a:ext cx="2563291" cy="292608"/>
          </a:xfrm>
          <a:prstGeom prst="rect">
            <a:avLst/>
          </a:prstGeom>
          <a:noFill/>
        </p:spPr>
        <p:txBody>
          <a:bodyPr wrap="square"/>
          <a:lstStyle/>
          <a:p>
            <a:pPr algn="ctr"/>
            <a:r>
              <a:rPr sz="1100" b="1" i="0">
                <a:solidFill>
                  <a:srgbClr val="047857"/>
                </a:solidFill>
                <a:latin typeface="Calibri"/>
              </a:rPr>
              <a:t>★ API / APIM</a:t>
            </a:r>
          </a:p>
        </p:txBody>
      </p:sp>
      <p:sp>
        <p:nvSpPr>
          <p:cNvPr id="29" name="Right Arrow 28"/>
          <p:cNvSpPr/>
          <p:nvPr/>
        </p:nvSpPr>
        <p:spPr>
          <a:xfrm>
            <a:off x="6004407" y="1911096"/>
            <a:ext cx="182880" cy="128016"/>
          </a:xfrm>
          <a:prstGeom prst="rightArrow">
            <a:avLst/>
          </a:prstGeom>
          <a:solidFill>
            <a:srgbClr val="047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6223863" y="1773936"/>
            <a:ext cx="2673019" cy="402336"/>
          </a:xfrm>
          <a:prstGeom prst="roundRect">
            <a:avLst>
              <a:gd name="adj" fmla="val 8000"/>
            </a:avLst>
          </a:prstGeom>
          <a:solidFill>
            <a:srgbClr val="F9FAFB"/>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78727" y="1828800"/>
            <a:ext cx="2563291" cy="292608"/>
          </a:xfrm>
          <a:prstGeom prst="rect">
            <a:avLst/>
          </a:prstGeom>
          <a:noFill/>
        </p:spPr>
        <p:txBody>
          <a:bodyPr wrap="square"/>
          <a:lstStyle/>
          <a:p>
            <a:pPr algn="ctr"/>
            <a:r>
              <a:rPr sz="1100" b="1" i="0">
                <a:solidFill>
                  <a:srgbClr val="111827"/>
                </a:solidFill>
                <a:latin typeface="Calibri"/>
              </a:rPr>
              <a:t>CMS (clinical)</a:t>
            </a:r>
          </a:p>
        </p:txBody>
      </p:sp>
      <p:sp>
        <p:nvSpPr>
          <p:cNvPr id="32" name="Right Arrow 31"/>
          <p:cNvSpPr/>
          <p:nvPr/>
        </p:nvSpPr>
        <p:spPr>
          <a:xfrm>
            <a:off x="8933459" y="1911096"/>
            <a:ext cx="182880" cy="128016"/>
          </a:xfrm>
          <a:prstGeom prst="right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9152915" y="1773936"/>
            <a:ext cx="2673019" cy="402336"/>
          </a:xfrm>
          <a:prstGeom prst="roundRect">
            <a:avLst>
              <a:gd name="adj" fmla="val 8000"/>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207779" y="1828800"/>
            <a:ext cx="2563291" cy="292608"/>
          </a:xfrm>
          <a:prstGeom prst="rect">
            <a:avLst/>
          </a:prstGeom>
          <a:noFill/>
        </p:spPr>
        <p:txBody>
          <a:bodyPr wrap="square"/>
          <a:lstStyle/>
          <a:p>
            <a:pPr algn="ctr"/>
            <a:r>
              <a:rPr sz="1100" b="1" i="0">
                <a:solidFill>
                  <a:srgbClr val="6B7280"/>
                </a:solidFill>
                <a:latin typeface="Calibri"/>
              </a:rPr>
              <a:t>Teleplan (bill)</a:t>
            </a:r>
          </a:p>
        </p:txBody>
      </p:sp>
      <p:sp>
        <p:nvSpPr>
          <p:cNvPr id="35" name="Rounded Rectangle 34"/>
          <p:cNvSpPr/>
          <p:nvPr/>
        </p:nvSpPr>
        <p:spPr>
          <a:xfrm>
            <a:off x="365760" y="2286000"/>
            <a:ext cx="11460175" cy="384048"/>
          </a:xfrm>
          <a:prstGeom prst="roundRect">
            <a:avLst>
              <a:gd name="adj" fmla="val 8000"/>
            </a:avLst>
          </a:prstGeom>
          <a:solidFill>
            <a:srgbClr val="F5F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66928" y="2359152"/>
            <a:ext cx="11057839" cy="256032"/>
          </a:xfrm>
          <a:prstGeom prst="rect">
            <a:avLst/>
          </a:prstGeom>
          <a:noFill/>
        </p:spPr>
        <p:txBody>
          <a:bodyPr wrap="square"/>
          <a:lstStyle/>
          <a:p>
            <a:pPr algn="l"/>
            <a:r>
              <a:rPr sz="1400" b="1" i="0">
                <a:solidFill>
                  <a:srgbClr val="7C3AED"/>
                </a:solidFill>
                <a:latin typeface="Calibri"/>
              </a:rPr>
              <a:t>Billing was the wrong abstraction for clinical data.</a:t>
            </a:r>
          </a:p>
        </p:txBody>
      </p:sp>
      <p:sp>
        <p:nvSpPr>
          <p:cNvPr id="37" name="Rounded Rectangle 36"/>
          <p:cNvSpPr/>
          <p:nvPr/>
        </p:nvSpPr>
        <p:spPr>
          <a:xfrm>
            <a:off x="365760" y="2779776"/>
            <a:ext cx="5647791" cy="1280160"/>
          </a:xfrm>
          <a:prstGeom prst="roundRect">
            <a:avLst>
              <a:gd name="adj" fmla="val 8000"/>
            </a:avLst>
          </a:prstGeom>
          <a:solidFill>
            <a:srgbClr val="FEF2F2"/>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48640" y="2889504"/>
            <a:ext cx="5282031" cy="1078992"/>
          </a:xfrm>
          <a:prstGeom prst="rect">
            <a:avLst/>
          </a:prstGeom>
          <a:noFill/>
        </p:spPr>
        <p:txBody>
          <a:bodyPr wrap="square"/>
          <a:lstStyle/>
          <a:p>
            <a:r>
              <a:rPr sz="1000" b="1" i="0" spc="180">
                <a:solidFill>
                  <a:srgbClr val="B91C1C"/>
                </a:solidFill>
                <a:latin typeface="Calibri"/>
              </a:rPr>
              <a:t>PROBLEM</a:t>
            </a:r>
          </a:p>
          <a:p>
            <a:pPr>
              <a:spcBef>
                <a:spcPts val="400"/>
              </a:spcBef>
            </a:pPr>
            <a:r>
              <a:rPr sz="1200" b="0" i="0">
                <a:solidFill>
                  <a:srgbClr val="111827"/>
                </a:solidFill>
                <a:latin typeface="Calibri"/>
              </a:rPr>
              <a:t>Form 8/11 locked in 2001 Teleplan/HIBC</a:t>
            </a:r>
          </a:p>
          <a:p>
            <a:pPr>
              <a:spcBef>
                <a:spcPts val="400"/>
              </a:spcBef>
            </a:pPr>
            <a:r>
              <a:rPr sz="1200" b="0" i="0">
                <a:solidFill>
                  <a:srgbClr val="111827"/>
                </a:solidFill>
                <a:latin typeface="Calibri"/>
              </a:rPr>
              <a:t>Form frozen since 2015; notes truncated</a:t>
            </a:r>
          </a:p>
          <a:p>
            <a:pPr>
              <a:spcBef>
                <a:spcPts val="400"/>
              </a:spcBef>
            </a:pPr>
            <a:r>
              <a:rPr sz="1200" b="0" i="0">
                <a:solidFill>
                  <a:srgbClr val="111827"/>
                </a:solidFill>
                <a:latin typeface="Calibri"/>
              </a:rPr>
              <a:t>Digital in EMR ≠ digital in CMS</a:t>
            </a:r>
          </a:p>
          <a:p>
            <a:pPr>
              <a:spcBef>
                <a:spcPts val="400"/>
              </a:spcBef>
            </a:pPr>
            <a:r>
              <a:rPr sz="1200" b="0" i="0">
                <a:solidFill>
                  <a:srgbClr val="111827"/>
                </a:solidFill>
                <a:latin typeface="Calibri"/>
              </a:rPr>
              <a:t>52K faxes; paying ELAN to re-key</a:t>
            </a:r>
          </a:p>
        </p:txBody>
      </p:sp>
      <p:sp>
        <p:nvSpPr>
          <p:cNvPr id="39" name="Rounded Rectangle 38"/>
          <p:cNvSpPr/>
          <p:nvPr/>
        </p:nvSpPr>
        <p:spPr>
          <a:xfrm>
            <a:off x="6178143" y="2779776"/>
            <a:ext cx="5647791" cy="1280160"/>
          </a:xfrm>
          <a:prstGeom prst="roundRect">
            <a:avLst>
              <a:gd name="adj" fmla="val 8000"/>
            </a:avLst>
          </a:prstGeom>
          <a:solidFill>
            <a:srgbClr val="ECFDF5"/>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361023" y="2889504"/>
            <a:ext cx="5282031" cy="1078992"/>
          </a:xfrm>
          <a:prstGeom prst="rect">
            <a:avLst/>
          </a:prstGeom>
          <a:noFill/>
        </p:spPr>
        <p:txBody>
          <a:bodyPr wrap="square"/>
          <a:lstStyle/>
          <a:p>
            <a:r>
              <a:rPr sz="1000" b="1" i="0" spc="180">
                <a:solidFill>
                  <a:srgbClr val="047857"/>
                </a:solidFill>
                <a:latin typeface="Calibri"/>
              </a:rPr>
              <a:t>DISCOVERY</a:t>
            </a:r>
          </a:p>
          <a:p>
            <a:pPr>
              <a:spcBef>
                <a:spcPts val="400"/>
              </a:spcBef>
            </a:pPr>
            <a:r>
              <a:rPr sz="1200" b="0" i="0">
                <a:solidFill>
                  <a:srgbClr val="111827"/>
                </a:solidFill>
                <a:latin typeface="Calibri"/>
              </a:rPr>
              <a:t>15 GP interviews: they will not leave the EMR</a:t>
            </a:r>
          </a:p>
          <a:p>
            <a:pPr>
              <a:spcBef>
                <a:spcPts val="400"/>
              </a:spcBef>
            </a:pPr>
            <a:r>
              <a:rPr sz="1200" b="0" i="0">
                <a:solidFill>
                  <a:srgbClr val="111827"/>
                </a:solidFill>
                <a:latin typeface="Calibri"/>
              </a:rPr>
              <a:t>Advisors: clinical text cut off by billing limits</a:t>
            </a:r>
          </a:p>
          <a:p>
            <a:pPr>
              <a:spcBef>
                <a:spcPts val="400"/>
              </a:spcBef>
            </a:pPr>
            <a:r>
              <a:rPr sz="1200" b="0" i="0">
                <a:solidFill>
                  <a:srgbClr val="111827"/>
                </a:solidFill>
                <a:latin typeface="Calibri"/>
              </a:rPr>
              <a:t>InnoFest “Death to PDFs” — didn’t win</a:t>
            </a:r>
          </a:p>
          <a:p>
            <a:pPr>
              <a:spcBef>
                <a:spcPts val="400"/>
              </a:spcBef>
            </a:pPr>
            <a:r>
              <a:rPr sz="1200" b="0" i="0">
                <a:solidFill>
                  <a:srgbClr val="111827"/>
                </a:solidFill>
                <a:latin typeface="Calibri"/>
              </a:rPr>
              <a:t>$80K Innovation Council POC anyway</a:t>
            </a:r>
          </a:p>
        </p:txBody>
      </p:sp>
      <p:sp>
        <p:nvSpPr>
          <p:cNvPr id="41" name="Rounded Rectangle 40"/>
          <p:cNvSpPr/>
          <p:nvPr/>
        </p:nvSpPr>
        <p:spPr>
          <a:xfrm>
            <a:off x="365760" y="4187952"/>
            <a:ext cx="3710330" cy="1225296"/>
          </a:xfrm>
          <a:prstGeom prst="roundRect">
            <a:avLst>
              <a:gd name="adj" fmla="val 8000"/>
            </a:avLst>
          </a:prstGeom>
          <a:solidFill>
            <a:srgbClr val="F9FAFB"/>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48640" y="4297680"/>
            <a:ext cx="3344570" cy="1024128"/>
          </a:xfrm>
          <a:prstGeom prst="rect">
            <a:avLst/>
          </a:prstGeom>
          <a:noFill/>
        </p:spPr>
        <p:txBody>
          <a:bodyPr wrap="square"/>
          <a:lstStyle/>
          <a:p>
            <a:r>
              <a:rPr sz="1000" b="1" i="0" spc="180">
                <a:solidFill>
                  <a:srgbClr val="047857"/>
                </a:solidFill>
                <a:latin typeface="Calibri"/>
              </a:rPr>
              <a:t>SHIPPED</a:t>
            </a:r>
          </a:p>
          <a:p>
            <a:pPr>
              <a:spcBef>
                <a:spcPts val="400"/>
              </a:spcBef>
            </a:pPr>
            <a:r>
              <a:rPr sz="1200" b="0" i="0">
                <a:solidFill>
                  <a:srgbClr val="111827"/>
                </a:solidFill>
                <a:latin typeface="Calibri"/>
              </a:rPr>
              <a:t>Split clinical off Teleplan/HIBC</a:t>
            </a:r>
          </a:p>
          <a:p>
            <a:pPr>
              <a:spcBef>
                <a:spcPts val="400"/>
              </a:spcBef>
            </a:pPr>
            <a:r>
              <a:rPr sz="1200" b="0" i="0">
                <a:solidFill>
                  <a:srgbClr val="111827"/>
                </a:solidFill>
                <a:latin typeface="Calibri"/>
              </a:rPr>
              <a:t>OSCAR eForm → APIM → CMS JSON</a:t>
            </a:r>
          </a:p>
          <a:p>
            <a:pPr>
              <a:spcBef>
                <a:spcPts val="400"/>
              </a:spcBef>
            </a:pPr>
            <a:r>
              <a:rPr sz="1200" b="0" i="0">
                <a:solidFill>
                  <a:srgbClr val="111827"/>
                </a:solidFill>
                <a:latin typeface="Calibri"/>
              </a:rPr>
              <a:t>APIM facade reusable for any EMR</a:t>
            </a:r>
          </a:p>
          <a:p>
            <a:pPr>
              <a:spcBef>
                <a:spcPts val="400"/>
              </a:spcBef>
            </a:pPr>
            <a:r>
              <a:rPr sz="1200" b="0" i="0">
                <a:solidFill>
                  <a:srgbClr val="111827"/>
                </a:solidFill>
                <a:latin typeface="Calibri"/>
              </a:rPr>
              <a:t>Billing stays on Teleplan</a:t>
            </a:r>
          </a:p>
        </p:txBody>
      </p:sp>
      <p:sp>
        <p:nvSpPr>
          <p:cNvPr id="43" name="Rounded Rectangle 42"/>
          <p:cNvSpPr/>
          <p:nvPr/>
        </p:nvSpPr>
        <p:spPr>
          <a:xfrm>
            <a:off x="4240682" y="4187952"/>
            <a:ext cx="3710330" cy="1225296"/>
          </a:xfrm>
          <a:prstGeom prst="roundRect">
            <a:avLst>
              <a:gd name="adj" fmla="val 8000"/>
            </a:avLst>
          </a:prstGeom>
          <a:solidFill>
            <a:srgbClr val="F9FAFB"/>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423562" y="4297680"/>
            <a:ext cx="3344570" cy="1024128"/>
          </a:xfrm>
          <a:prstGeom prst="rect">
            <a:avLst/>
          </a:prstGeom>
          <a:noFill/>
        </p:spPr>
        <p:txBody>
          <a:bodyPr wrap="square"/>
          <a:lstStyle/>
          <a:p>
            <a:r>
              <a:rPr sz="1000" b="1" i="0" spc="180">
                <a:solidFill>
                  <a:srgbClr val="B91C1C"/>
                </a:solidFill>
                <a:latin typeface="Calibri"/>
              </a:rPr>
              <a:t>LAUNCH / FAILURE</a:t>
            </a:r>
          </a:p>
          <a:p>
            <a:pPr>
              <a:spcBef>
                <a:spcPts val="400"/>
              </a:spcBef>
            </a:pPr>
            <a:r>
              <a:rPr sz="1200" b="0" i="0">
                <a:solidFill>
                  <a:srgbClr val="111827"/>
                </a:solidFill>
                <a:latin typeface="Calibri"/>
              </a:rPr>
              <a:t>Form/portal instinct died in discovery</a:t>
            </a:r>
          </a:p>
          <a:p>
            <a:pPr>
              <a:spcBef>
                <a:spcPts val="400"/>
              </a:spcBef>
            </a:pPr>
            <a:r>
              <a:rPr sz="1200" b="0" i="0">
                <a:solidFill>
                  <a:srgbClr val="111827"/>
                </a:solidFill>
                <a:latin typeface="Calibri"/>
              </a:rPr>
              <a:t>OSCAR POC validated 27 Mar 2025 — F8 not live</a:t>
            </a:r>
          </a:p>
          <a:p>
            <a:pPr>
              <a:spcBef>
                <a:spcPts val="400"/>
              </a:spcBef>
            </a:pPr>
            <a:r>
              <a:rPr sz="1200" b="0" i="0">
                <a:solidFill>
                  <a:srgbClr val="111827"/>
                </a:solidFill>
                <a:latin typeface="Calibri"/>
              </a:rPr>
              <a:t>Vendor talks sequenced after the POC</a:t>
            </a:r>
          </a:p>
        </p:txBody>
      </p:sp>
      <p:sp>
        <p:nvSpPr>
          <p:cNvPr id="45" name="Rounded Rectangle 44"/>
          <p:cNvSpPr/>
          <p:nvPr/>
        </p:nvSpPr>
        <p:spPr>
          <a:xfrm>
            <a:off x="8115604" y="4187952"/>
            <a:ext cx="3710330" cy="1225296"/>
          </a:xfrm>
          <a:prstGeom prst="roundRect">
            <a:avLst>
              <a:gd name="adj" fmla="val 8000"/>
            </a:avLst>
          </a:prstGeom>
          <a:solidFill>
            <a:srgbClr val="F9FAFB"/>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298484" y="4297680"/>
            <a:ext cx="3344570" cy="1024128"/>
          </a:xfrm>
          <a:prstGeom prst="rect">
            <a:avLst/>
          </a:prstGeom>
          <a:noFill/>
        </p:spPr>
        <p:txBody>
          <a:bodyPr wrap="square"/>
          <a:lstStyle/>
          <a:p>
            <a:r>
              <a:rPr sz="1000" b="1" i="0" spc="180">
                <a:solidFill>
                  <a:srgbClr val="111827"/>
                </a:solidFill>
                <a:latin typeface="Calibri"/>
              </a:rPr>
              <a:t>TRADEOFFS</a:t>
            </a:r>
          </a:p>
          <a:p>
            <a:pPr>
              <a:spcBef>
                <a:spcPts val="400"/>
              </a:spcBef>
            </a:pPr>
            <a:r>
              <a:rPr sz="1200" b="0" i="0">
                <a:solidFill>
                  <a:srgbClr val="111827"/>
                </a:solidFill>
                <a:latin typeface="Calibri"/>
              </a:rPr>
              <a:t>Patch form vs rebuild pipe → rebuild</a:t>
            </a:r>
          </a:p>
          <a:p>
            <a:pPr>
              <a:spcBef>
                <a:spcPts val="400"/>
              </a:spcBef>
            </a:pPr>
            <a:r>
              <a:rPr sz="1200" b="0" i="0">
                <a:solidFill>
                  <a:srgbClr val="111827"/>
                </a:solidFill>
                <a:latin typeface="Calibri"/>
              </a:rPr>
              <a:t>FHIR now vs JSON now → JSON</a:t>
            </a:r>
          </a:p>
          <a:p>
            <a:pPr>
              <a:spcBef>
                <a:spcPts val="400"/>
              </a:spcBef>
            </a:pPr>
            <a:r>
              <a:rPr sz="1200" b="0" i="0">
                <a:solidFill>
                  <a:srgbClr val="111827"/>
                </a:solidFill>
                <a:latin typeface="Calibri"/>
              </a:rPr>
              <a:t>Top-5 vs OSCAR beachhead → OSCAR</a:t>
            </a:r>
          </a:p>
        </p:txBody>
      </p:sp>
      <p:sp>
        <p:nvSpPr>
          <p:cNvPr id="47" name="Rounded Rectangle 46"/>
          <p:cNvSpPr/>
          <p:nvPr/>
        </p:nvSpPr>
        <p:spPr>
          <a:xfrm>
            <a:off x="365760" y="5541264"/>
            <a:ext cx="7818120" cy="713232"/>
          </a:xfrm>
          <a:prstGeom prst="roundRect">
            <a:avLst>
              <a:gd name="adj" fmla="val 8000"/>
            </a:avLst>
          </a:prstGeom>
          <a:solidFill>
            <a:srgbClr val="ECF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66928" y="5632704"/>
            <a:ext cx="7452360" cy="164592"/>
          </a:xfrm>
          <a:prstGeom prst="rect">
            <a:avLst/>
          </a:prstGeom>
          <a:noFill/>
        </p:spPr>
        <p:txBody>
          <a:bodyPr wrap="square"/>
          <a:lstStyle/>
          <a:p>
            <a:pPr algn="l"/>
            <a:r>
              <a:rPr sz="1000" b="1" i="0" spc="180">
                <a:solidFill>
                  <a:srgbClr val="047857"/>
                </a:solidFill>
                <a:latin typeface="Calibri"/>
              </a:rPr>
              <a:t>OUTCOME</a:t>
            </a:r>
          </a:p>
        </p:txBody>
      </p:sp>
      <p:sp>
        <p:nvSpPr>
          <p:cNvPr id="49" name="TextBox 48"/>
          <p:cNvSpPr txBox="1"/>
          <p:nvPr/>
        </p:nvSpPr>
        <p:spPr>
          <a:xfrm>
            <a:off x="566928" y="5833872"/>
            <a:ext cx="7452360" cy="329184"/>
          </a:xfrm>
          <a:prstGeom prst="rect">
            <a:avLst/>
          </a:prstGeom>
          <a:noFill/>
        </p:spPr>
        <p:txBody>
          <a:bodyPr wrap="square"/>
          <a:lstStyle/>
          <a:p>
            <a:pPr algn="l"/>
            <a:r>
              <a:rPr sz="1300" b="1" i="0">
                <a:solidFill>
                  <a:srgbClr val="111827"/>
                </a:solidFill>
                <a:latin typeface="Calibri"/>
              </a:rPr>
              <a:t>GPs stay in EMR (user)    ·    $80K POC · 27 Mar 2025 (business)    ·    Not a fax-% claim</a:t>
            </a:r>
          </a:p>
        </p:txBody>
      </p:sp>
      <p:sp>
        <p:nvSpPr>
          <p:cNvPr id="50" name="Rounded Rectangle 49"/>
          <p:cNvSpPr/>
          <p:nvPr/>
        </p:nvSpPr>
        <p:spPr>
          <a:xfrm>
            <a:off x="8348472" y="5541264"/>
            <a:ext cx="3477463" cy="713232"/>
          </a:xfrm>
          <a:prstGeom prst="roundRect">
            <a:avLst>
              <a:gd name="adj" fmla="val 8000"/>
            </a:avLst>
          </a:prstGeom>
          <a:solidFill>
            <a:srgbClr val="F9FAFB"/>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513064" y="5632704"/>
            <a:ext cx="3184855" cy="164592"/>
          </a:xfrm>
          <a:prstGeom prst="rect">
            <a:avLst/>
          </a:prstGeom>
          <a:noFill/>
        </p:spPr>
        <p:txBody>
          <a:bodyPr wrap="square"/>
          <a:lstStyle/>
          <a:p>
            <a:pPr algn="l"/>
            <a:r>
              <a:rPr sz="1000" b="1" i="0" spc="180">
                <a:solidFill>
                  <a:srgbClr val="6B7280"/>
                </a:solidFill>
                <a:latin typeface="Calibri"/>
              </a:rPr>
              <a:t>WHY THIS MATTERS</a:t>
            </a:r>
          </a:p>
        </p:txBody>
      </p:sp>
      <p:sp>
        <p:nvSpPr>
          <p:cNvPr id="52" name="TextBox 51"/>
          <p:cNvSpPr txBox="1"/>
          <p:nvPr/>
        </p:nvSpPr>
        <p:spPr>
          <a:xfrm>
            <a:off x="8513064" y="5815584"/>
            <a:ext cx="3184855" cy="365760"/>
          </a:xfrm>
          <a:prstGeom prst="rect">
            <a:avLst/>
          </a:prstGeom>
          <a:noFill/>
        </p:spPr>
        <p:txBody>
          <a:bodyPr wrap="square"/>
          <a:lstStyle/>
          <a:p>
            <a:pPr algn="l"/>
            <a:r>
              <a:rPr sz="1200" b="0" i="0">
                <a:solidFill>
                  <a:srgbClr val="111827"/>
                </a:solidFill>
                <a:latin typeface="Calibri"/>
              </a:rPr>
              <a:t>Clean inputs beat downstream automation. Distribution lives in the EMR.</a:t>
            </a:r>
          </a:p>
        </p:txBody>
      </p:sp>
      <p:sp>
        <p:nvSpPr>
          <p:cNvPr id="53" name="TextBox 52"/>
          <p:cNvSpPr txBox="1"/>
          <p:nvPr/>
        </p:nvSpPr>
        <p:spPr>
          <a:xfrm>
            <a:off x="365760" y="6291072"/>
            <a:ext cx="11460175" cy="201168"/>
          </a:xfrm>
          <a:prstGeom prst="rect">
            <a:avLst/>
          </a:prstGeom>
          <a:noFill/>
        </p:spPr>
        <p:txBody>
          <a:bodyPr wrap="square"/>
          <a:lstStyle/>
          <a:p>
            <a:pPr algn="l"/>
            <a:r>
              <a:rPr sz="1000" b="0" i="0">
                <a:solidFill>
                  <a:srgbClr val="6B7280"/>
                </a:solidFill>
                <a:latin typeface="Calibri"/>
              </a:rPr>
              <a:t>Missed: vendor talks parallel with discovery    ·    live Form 8 not in production    ·    FHIR still the upgrade path</a:t>
            </a:r>
          </a:p>
        </p:txBody>
      </p:sp>
      <p:sp>
        <p:nvSpPr>
          <p:cNvPr id="54" name="TextBox 53"/>
          <p:cNvSpPr txBox="1"/>
          <p:nvPr/>
        </p:nvSpPr>
        <p:spPr>
          <a:xfrm>
            <a:off x="365760" y="6565392"/>
            <a:ext cx="7863840" cy="201168"/>
          </a:xfrm>
          <a:prstGeom prst="rect">
            <a:avLst/>
          </a:prstGeom>
          <a:noFill/>
        </p:spPr>
        <p:txBody>
          <a:bodyPr wrap="square"/>
          <a:lstStyle/>
          <a:p>
            <a:pPr algn="l"/>
            <a:r>
              <a:rPr sz="1000" b="0" i="0">
                <a:solidFill>
                  <a:srgbClr val="6B7280"/>
                </a:solidFill>
                <a:latin typeface="Calibri"/>
              </a:rPr>
              <a:t>Healthcare systems fail upstream. I fix input quality instead of scaling downstream ops.    ·    2/6</a:t>
            </a:r>
          </a:p>
        </p:txBody>
      </p:sp>
      <p:sp>
        <p:nvSpPr>
          <p:cNvPr id="55" name="TextBox 54"/>
          <p:cNvSpPr txBox="1"/>
          <p:nvPr/>
        </p:nvSpPr>
        <p:spPr>
          <a:xfrm>
            <a:off x="8321040" y="6565392"/>
            <a:ext cx="3474720" cy="201168"/>
          </a:xfrm>
          <a:prstGeom prst="rect">
            <a:avLst/>
          </a:prstGeom>
          <a:noFill/>
        </p:spPr>
        <p:txBody>
          <a:bodyPr wrap="square"/>
          <a:lstStyle/>
          <a:p>
            <a:pPr algn="r"/>
            <a:r>
              <a:rPr sz="1000" b="0" i="0">
                <a:solidFill>
                  <a:srgbClr val="6B7280"/>
                </a:solidFill>
                <a:latin typeface="Calibri"/>
              </a:rPr>
              <a:t>Scope  EMR vendor constraints · JSON not FHIR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114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11460175" cy="164592"/>
          </a:xfrm>
          <a:prstGeom prst="rect">
            <a:avLst/>
          </a:prstGeom>
          <a:noFill/>
        </p:spPr>
        <p:txBody>
          <a:bodyPr wrap="square"/>
          <a:lstStyle/>
          <a:p>
            <a:pPr algn="l"/>
            <a:r>
              <a:rPr sz="1000" b="1" i="0" spc="200">
                <a:solidFill>
                  <a:srgbClr val="7C3AED"/>
                </a:solidFill>
                <a:latin typeface="Calibri"/>
              </a:rPr>
              <a:t>3  ·  RESIDUAL 5%</a:t>
            </a:r>
          </a:p>
        </p:txBody>
      </p:sp>
      <p:sp>
        <p:nvSpPr>
          <p:cNvPr id="5" name="TextBox 4"/>
          <p:cNvSpPr txBox="1"/>
          <p:nvPr/>
        </p:nvSpPr>
        <p:spPr>
          <a:xfrm>
            <a:off x="365760" y="237744"/>
            <a:ext cx="11460175" cy="310896"/>
          </a:xfrm>
          <a:prstGeom prst="rect">
            <a:avLst/>
          </a:prstGeom>
          <a:noFill/>
        </p:spPr>
        <p:txBody>
          <a:bodyPr wrap="square"/>
          <a:lstStyle/>
          <a:p>
            <a:pPr algn="l"/>
            <a:r>
              <a:rPr sz="2200" b="1" i="0">
                <a:solidFill>
                  <a:srgbClr val="111827"/>
                </a:solidFill>
                <a:latin typeface="Calibri"/>
              </a:rPr>
              <a:t>Referral Radar — Finding was the bottleneck, not judging</a:t>
            </a:r>
          </a:p>
        </p:txBody>
      </p:sp>
      <p:sp>
        <p:nvSpPr>
          <p:cNvPr id="6" name="TextBox 5"/>
          <p:cNvSpPr txBox="1"/>
          <p:nvPr/>
        </p:nvSpPr>
        <p:spPr>
          <a:xfrm>
            <a:off x="365760" y="530352"/>
            <a:ext cx="11460175" cy="164592"/>
          </a:xfrm>
          <a:prstGeom prst="rect">
            <a:avLst/>
          </a:prstGeom>
          <a:noFill/>
        </p:spPr>
        <p:txBody>
          <a:bodyPr wrap="square"/>
          <a:lstStyle/>
          <a:p>
            <a:r>
              <a:rPr sz="1000" b="1" i="0">
                <a:solidFill>
                  <a:srgbClr val="6B7280"/>
                </a:solidFill>
                <a:latin typeface="Calibri"/>
              </a:rPr>
              <a:t>User  </a:t>
            </a:r>
            <a:r>
              <a:rPr sz="1000" b="0" i="0">
                <a:solidFill>
                  <a:srgbClr val="6B7280"/>
                </a:solidFill>
                <a:latin typeface="Calibri"/>
              </a:rPr>
              <a:t>CMs on referral calls     ·     </a:t>
            </a:r>
            <a:r>
              <a:rPr sz="1000" b="1" i="0">
                <a:solidFill>
                  <a:srgbClr val="6B7280"/>
                </a:solidFill>
                <a:latin typeface="Calibri"/>
              </a:rPr>
              <a:t>Business  </a:t>
            </a:r>
            <a:r>
              <a:rPr sz="1000" b="0" i="0">
                <a:solidFill>
                  <a:srgbClr val="6B7280"/>
                </a:solidFill>
                <a:latin typeface="Calibri"/>
              </a:rPr>
              <a:t>90+ min SME hunt     ·     </a:t>
            </a:r>
            <a:r>
              <a:rPr sz="1000" b="1" i="0">
                <a:solidFill>
                  <a:srgbClr val="6B7280"/>
                </a:solidFill>
                <a:latin typeface="Calibri"/>
              </a:rPr>
              <a:t>Trigger  </a:t>
            </a:r>
            <a:r>
              <a:rPr sz="1000" b="0" i="0">
                <a:solidFill>
                  <a:srgbClr val="6B7280"/>
                </a:solidFill>
                <a:latin typeface="Calibri"/>
              </a:rPr>
              <a:t>Signal buried in 20–75 docs</a:t>
            </a:r>
          </a:p>
        </p:txBody>
      </p:sp>
      <p:sp>
        <p:nvSpPr>
          <p:cNvPr id="7" name="TextBox 6"/>
          <p:cNvSpPr txBox="1"/>
          <p:nvPr/>
        </p:nvSpPr>
        <p:spPr>
          <a:xfrm>
            <a:off x="365760" y="676656"/>
            <a:ext cx="11460175" cy="164592"/>
          </a:xfrm>
          <a:prstGeom prst="rect">
            <a:avLst/>
          </a:prstGeom>
          <a:noFill/>
        </p:spPr>
        <p:txBody>
          <a:bodyPr wrap="square"/>
          <a:lstStyle/>
          <a:p>
            <a:pPr algn="l"/>
            <a:r>
              <a:rPr sz="1100" b="0" i="1">
                <a:solidFill>
                  <a:srgbClr val="6B7280"/>
                </a:solidFill>
                <a:latin typeface="Calibri"/>
              </a:rPr>
              <a:t>Assumed a ranked recommendation was the product. Explainability was.</a:t>
            </a:r>
          </a:p>
        </p:txBody>
      </p:sp>
      <p:sp>
        <p:nvSpPr>
          <p:cNvPr id="8" name="TextBox 7"/>
          <p:cNvSpPr txBox="1"/>
          <p:nvPr/>
        </p:nvSpPr>
        <p:spPr>
          <a:xfrm>
            <a:off x="365760" y="932688"/>
            <a:ext cx="2011680" cy="182880"/>
          </a:xfrm>
          <a:prstGeom prst="rect">
            <a:avLst/>
          </a:prstGeom>
          <a:noFill/>
        </p:spPr>
        <p:txBody>
          <a:bodyPr wrap="square"/>
          <a:lstStyle/>
          <a:p>
            <a:pPr algn="l"/>
            <a:r>
              <a:rPr sz="1000" b="1" i="0" spc="180">
                <a:solidFill>
                  <a:srgbClr val="B91C1C"/>
                </a:solidFill>
                <a:latin typeface="Calibri"/>
              </a:rPr>
              <a:t>BEFORE</a:t>
            </a:r>
          </a:p>
        </p:txBody>
      </p:sp>
      <p:sp>
        <p:nvSpPr>
          <p:cNvPr id="9" name="Rounded Rectangle 8"/>
          <p:cNvSpPr/>
          <p:nvPr/>
        </p:nvSpPr>
        <p:spPr>
          <a:xfrm>
            <a:off x="365760" y="1115568"/>
            <a:ext cx="2673019" cy="402336"/>
          </a:xfrm>
          <a:prstGeom prst="roundRect">
            <a:avLst>
              <a:gd name="adj" fmla="val 8000"/>
            </a:avLst>
          </a:prstGeom>
          <a:solidFill>
            <a:srgbClr val="F9FAFB"/>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0624" y="1170432"/>
            <a:ext cx="2563291" cy="292608"/>
          </a:xfrm>
          <a:prstGeom prst="rect">
            <a:avLst/>
          </a:prstGeom>
          <a:noFill/>
        </p:spPr>
        <p:txBody>
          <a:bodyPr wrap="square"/>
          <a:lstStyle/>
          <a:p>
            <a:pPr algn="ctr"/>
            <a:r>
              <a:rPr sz="1100" b="1" i="0">
                <a:solidFill>
                  <a:srgbClr val="111827"/>
                </a:solidFill>
                <a:latin typeface="Calibri"/>
              </a:rPr>
              <a:t>Claim docs</a:t>
            </a:r>
          </a:p>
        </p:txBody>
      </p:sp>
      <p:sp>
        <p:nvSpPr>
          <p:cNvPr id="11" name="Right Arrow 10"/>
          <p:cNvSpPr/>
          <p:nvPr/>
        </p:nvSpPr>
        <p:spPr>
          <a:xfrm>
            <a:off x="3075355" y="1252728"/>
            <a:ext cx="182880" cy="128016"/>
          </a:xfrm>
          <a:prstGeom prst="rightArrow">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294811" y="1115568"/>
            <a:ext cx="2673019" cy="402336"/>
          </a:xfrm>
          <a:prstGeom prst="roundRect">
            <a:avLst>
              <a:gd name="adj" fmla="val 8000"/>
            </a:avLst>
          </a:prstGeom>
          <a:solidFill>
            <a:srgbClr val="FEF2F2"/>
          </a:solidFill>
          <a:ln w="12700">
            <a:solidFill>
              <a:srgbClr val="FE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349675" y="1170432"/>
            <a:ext cx="2563291" cy="292608"/>
          </a:xfrm>
          <a:prstGeom prst="rect">
            <a:avLst/>
          </a:prstGeom>
          <a:noFill/>
        </p:spPr>
        <p:txBody>
          <a:bodyPr wrap="square"/>
          <a:lstStyle/>
          <a:p>
            <a:pPr algn="ctr"/>
            <a:r>
              <a:rPr sz="1100" b="1" i="0">
                <a:solidFill>
                  <a:srgbClr val="B91C1C"/>
                </a:solidFill>
                <a:latin typeface="Calibri"/>
              </a:rPr>
              <a:t>Hunt 20–75</a:t>
            </a:r>
          </a:p>
        </p:txBody>
      </p:sp>
      <p:sp>
        <p:nvSpPr>
          <p:cNvPr id="14" name="Right Arrow 13"/>
          <p:cNvSpPr/>
          <p:nvPr/>
        </p:nvSpPr>
        <p:spPr>
          <a:xfrm>
            <a:off x="6004407" y="1252728"/>
            <a:ext cx="182880" cy="128016"/>
          </a:xfrm>
          <a:prstGeom prst="rightArrow">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23863" y="1115568"/>
            <a:ext cx="2673019" cy="402336"/>
          </a:xfrm>
          <a:prstGeom prst="roundRect">
            <a:avLst>
              <a:gd name="adj" fmla="val 8000"/>
            </a:avLst>
          </a:prstGeom>
          <a:solidFill>
            <a:srgbClr val="F9FAFB"/>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7" y="1170432"/>
            <a:ext cx="2563291" cy="292608"/>
          </a:xfrm>
          <a:prstGeom prst="rect">
            <a:avLst/>
          </a:prstGeom>
          <a:noFill/>
        </p:spPr>
        <p:txBody>
          <a:bodyPr wrap="square"/>
          <a:lstStyle/>
          <a:p>
            <a:pPr algn="ctr"/>
            <a:r>
              <a:rPr sz="1100" b="1" i="0">
                <a:solidFill>
                  <a:srgbClr val="111827"/>
                </a:solidFill>
                <a:latin typeface="Calibri"/>
              </a:rPr>
              <a:t>CM decides</a:t>
            </a:r>
          </a:p>
        </p:txBody>
      </p:sp>
      <p:sp>
        <p:nvSpPr>
          <p:cNvPr id="17" name="Right Arrow 16"/>
          <p:cNvSpPr/>
          <p:nvPr/>
        </p:nvSpPr>
        <p:spPr>
          <a:xfrm>
            <a:off x="8933459" y="1252728"/>
            <a:ext cx="182880" cy="128016"/>
          </a:xfrm>
          <a:prstGeom prst="right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152915" y="1115568"/>
            <a:ext cx="2673019" cy="402336"/>
          </a:xfrm>
          <a:prstGeom prst="roundRect">
            <a:avLst>
              <a:gd name="adj" fmla="val 8000"/>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207779" y="1170432"/>
            <a:ext cx="2563291" cy="292608"/>
          </a:xfrm>
          <a:prstGeom prst="rect">
            <a:avLst/>
          </a:prstGeom>
          <a:noFill/>
        </p:spPr>
        <p:txBody>
          <a:bodyPr wrap="square"/>
          <a:lstStyle/>
          <a:p>
            <a:pPr algn="ctr"/>
            <a:r>
              <a:rPr sz="1100" b="1" i="0">
                <a:solidFill>
                  <a:srgbClr val="6B7280"/>
                </a:solidFill>
                <a:latin typeface="Calibri"/>
              </a:rPr>
              <a:t>Referral</a:t>
            </a:r>
          </a:p>
        </p:txBody>
      </p:sp>
      <p:sp>
        <p:nvSpPr>
          <p:cNvPr id="20" name="TextBox 19"/>
          <p:cNvSpPr txBox="1"/>
          <p:nvPr/>
        </p:nvSpPr>
        <p:spPr>
          <a:xfrm>
            <a:off x="365760" y="1591056"/>
            <a:ext cx="2011680" cy="182880"/>
          </a:xfrm>
          <a:prstGeom prst="rect">
            <a:avLst/>
          </a:prstGeom>
          <a:noFill/>
        </p:spPr>
        <p:txBody>
          <a:bodyPr wrap="square"/>
          <a:lstStyle/>
          <a:p>
            <a:pPr algn="l"/>
            <a:r>
              <a:rPr sz="1000" b="1" i="0" spc="180">
                <a:solidFill>
                  <a:srgbClr val="047857"/>
                </a:solidFill>
                <a:latin typeface="Calibri"/>
              </a:rPr>
              <a:t>AFTER</a:t>
            </a:r>
          </a:p>
        </p:txBody>
      </p:sp>
      <p:sp>
        <p:nvSpPr>
          <p:cNvPr id="21" name="Rounded Rectangle 20"/>
          <p:cNvSpPr/>
          <p:nvPr/>
        </p:nvSpPr>
        <p:spPr>
          <a:xfrm>
            <a:off x="365760" y="1773936"/>
            <a:ext cx="2087209" cy="402336"/>
          </a:xfrm>
          <a:prstGeom prst="roundRect">
            <a:avLst>
              <a:gd name="adj" fmla="val 8000"/>
            </a:avLst>
          </a:prstGeom>
          <a:solidFill>
            <a:srgbClr val="F9FAFB"/>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20624" y="1828800"/>
            <a:ext cx="1977481" cy="292608"/>
          </a:xfrm>
          <a:prstGeom prst="rect">
            <a:avLst/>
          </a:prstGeom>
          <a:noFill/>
        </p:spPr>
        <p:txBody>
          <a:bodyPr wrap="square"/>
          <a:lstStyle/>
          <a:p>
            <a:pPr algn="ctr"/>
            <a:r>
              <a:rPr sz="1100" b="1" i="0">
                <a:solidFill>
                  <a:srgbClr val="111827"/>
                </a:solidFill>
                <a:latin typeface="Calibri"/>
              </a:rPr>
              <a:t>Claim docs</a:t>
            </a:r>
          </a:p>
        </p:txBody>
      </p:sp>
      <p:sp>
        <p:nvSpPr>
          <p:cNvPr id="23" name="Right Arrow 22"/>
          <p:cNvSpPr/>
          <p:nvPr/>
        </p:nvSpPr>
        <p:spPr>
          <a:xfrm>
            <a:off x="2489545" y="1911096"/>
            <a:ext cx="182880" cy="128016"/>
          </a:xfrm>
          <a:prstGeom prst="rightArrow">
            <a:avLst/>
          </a:prstGeom>
          <a:solidFill>
            <a:srgbClr val="047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2709001" y="1773936"/>
            <a:ext cx="2087209" cy="402336"/>
          </a:xfrm>
          <a:prstGeom prst="roundRect">
            <a:avLst>
              <a:gd name="adj" fmla="val 8000"/>
            </a:avLst>
          </a:prstGeom>
          <a:solidFill>
            <a:srgbClr val="ECFDF5"/>
          </a:solidFill>
          <a:ln w="12700">
            <a:solidFill>
              <a:srgbClr val="ECFD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763865" y="1828800"/>
            <a:ext cx="1977481" cy="292608"/>
          </a:xfrm>
          <a:prstGeom prst="rect">
            <a:avLst/>
          </a:prstGeom>
          <a:noFill/>
        </p:spPr>
        <p:txBody>
          <a:bodyPr wrap="square"/>
          <a:lstStyle/>
          <a:p>
            <a:pPr algn="ctr"/>
            <a:r>
              <a:rPr sz="1100" b="1" i="0">
                <a:solidFill>
                  <a:srgbClr val="047857"/>
                </a:solidFill>
                <a:latin typeface="Calibri"/>
              </a:rPr>
              <a:t>★ Retrieval</a:t>
            </a:r>
          </a:p>
        </p:txBody>
      </p:sp>
      <p:sp>
        <p:nvSpPr>
          <p:cNvPr id="26" name="Right Arrow 25"/>
          <p:cNvSpPr/>
          <p:nvPr/>
        </p:nvSpPr>
        <p:spPr>
          <a:xfrm>
            <a:off x="4832786" y="1911096"/>
            <a:ext cx="182880" cy="128016"/>
          </a:xfrm>
          <a:prstGeom prst="rightArrow">
            <a:avLst/>
          </a:prstGeom>
          <a:solidFill>
            <a:srgbClr val="047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5052242" y="1773936"/>
            <a:ext cx="2087209" cy="402336"/>
          </a:xfrm>
          <a:prstGeom prst="roundRect">
            <a:avLst>
              <a:gd name="adj" fmla="val 8000"/>
            </a:avLst>
          </a:prstGeom>
          <a:solidFill>
            <a:srgbClr val="F9FAFB"/>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107106" y="1828800"/>
            <a:ext cx="1977481" cy="292608"/>
          </a:xfrm>
          <a:prstGeom prst="rect">
            <a:avLst/>
          </a:prstGeom>
          <a:noFill/>
        </p:spPr>
        <p:txBody>
          <a:bodyPr wrap="square"/>
          <a:lstStyle/>
          <a:p>
            <a:pPr algn="ctr"/>
            <a:r>
              <a:rPr sz="1100" b="1" i="0">
                <a:solidFill>
                  <a:srgbClr val="111827"/>
                </a:solidFill>
                <a:latin typeface="Calibri"/>
              </a:rPr>
              <a:t>Evidence</a:t>
            </a:r>
          </a:p>
        </p:txBody>
      </p:sp>
      <p:sp>
        <p:nvSpPr>
          <p:cNvPr id="29" name="Right Arrow 28"/>
          <p:cNvSpPr/>
          <p:nvPr/>
        </p:nvSpPr>
        <p:spPr>
          <a:xfrm>
            <a:off x="7176028" y="1911096"/>
            <a:ext cx="182880" cy="128016"/>
          </a:xfrm>
          <a:prstGeom prst="right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7395484" y="1773936"/>
            <a:ext cx="2087209" cy="402336"/>
          </a:xfrm>
          <a:prstGeom prst="roundRect">
            <a:avLst>
              <a:gd name="adj" fmla="val 8000"/>
            </a:avLst>
          </a:prstGeom>
          <a:solidFill>
            <a:srgbClr val="F9FAFB"/>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450348" y="1828800"/>
            <a:ext cx="1977481" cy="292608"/>
          </a:xfrm>
          <a:prstGeom prst="rect">
            <a:avLst/>
          </a:prstGeom>
          <a:noFill/>
        </p:spPr>
        <p:txBody>
          <a:bodyPr wrap="square"/>
          <a:lstStyle/>
          <a:p>
            <a:pPr algn="ctr"/>
            <a:r>
              <a:rPr sz="1100" b="1" i="0">
                <a:solidFill>
                  <a:srgbClr val="111827"/>
                </a:solidFill>
                <a:latin typeface="Calibri"/>
              </a:rPr>
              <a:t>CM decides</a:t>
            </a:r>
          </a:p>
        </p:txBody>
      </p:sp>
      <p:sp>
        <p:nvSpPr>
          <p:cNvPr id="32" name="Right Arrow 31"/>
          <p:cNvSpPr/>
          <p:nvPr/>
        </p:nvSpPr>
        <p:spPr>
          <a:xfrm>
            <a:off x="9519269" y="1911096"/>
            <a:ext cx="182880" cy="128016"/>
          </a:xfrm>
          <a:prstGeom prst="right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9738725" y="1773936"/>
            <a:ext cx="2087209" cy="402336"/>
          </a:xfrm>
          <a:prstGeom prst="roundRect">
            <a:avLst>
              <a:gd name="adj" fmla="val 8000"/>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793589" y="1828800"/>
            <a:ext cx="1977481" cy="292608"/>
          </a:xfrm>
          <a:prstGeom prst="rect">
            <a:avLst/>
          </a:prstGeom>
          <a:noFill/>
        </p:spPr>
        <p:txBody>
          <a:bodyPr wrap="square"/>
          <a:lstStyle/>
          <a:p>
            <a:pPr algn="ctr"/>
            <a:r>
              <a:rPr sz="1100" b="1" i="0">
                <a:solidFill>
                  <a:srgbClr val="6B7280"/>
                </a:solidFill>
                <a:latin typeface="Calibri"/>
              </a:rPr>
              <a:t>Referral</a:t>
            </a:r>
          </a:p>
        </p:txBody>
      </p:sp>
      <p:sp>
        <p:nvSpPr>
          <p:cNvPr id="35" name="Rounded Rectangle 34"/>
          <p:cNvSpPr/>
          <p:nvPr/>
        </p:nvSpPr>
        <p:spPr>
          <a:xfrm>
            <a:off x="365760" y="2286000"/>
            <a:ext cx="11460175" cy="384048"/>
          </a:xfrm>
          <a:prstGeom prst="roundRect">
            <a:avLst>
              <a:gd name="adj" fmla="val 8000"/>
            </a:avLst>
          </a:prstGeom>
          <a:solidFill>
            <a:srgbClr val="F5F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66928" y="2359152"/>
            <a:ext cx="11057839" cy="256032"/>
          </a:xfrm>
          <a:prstGeom prst="rect">
            <a:avLst/>
          </a:prstGeom>
          <a:noFill/>
        </p:spPr>
        <p:txBody>
          <a:bodyPr wrap="square"/>
          <a:lstStyle/>
          <a:p>
            <a:pPr algn="l"/>
            <a:r>
              <a:rPr sz="1400" b="1" i="0">
                <a:solidFill>
                  <a:srgbClr val="7C3AED"/>
                </a:solidFill>
                <a:latin typeface="Calibri"/>
              </a:rPr>
              <a:t>This is retrieval + evidence, not automation.</a:t>
            </a:r>
          </a:p>
        </p:txBody>
      </p:sp>
      <p:sp>
        <p:nvSpPr>
          <p:cNvPr id="37" name="Rounded Rectangle 36"/>
          <p:cNvSpPr/>
          <p:nvPr/>
        </p:nvSpPr>
        <p:spPr>
          <a:xfrm>
            <a:off x="365760" y="2779776"/>
            <a:ext cx="5647791" cy="1280160"/>
          </a:xfrm>
          <a:prstGeom prst="roundRect">
            <a:avLst>
              <a:gd name="adj" fmla="val 8000"/>
            </a:avLst>
          </a:prstGeom>
          <a:solidFill>
            <a:srgbClr val="FEF2F2"/>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48640" y="2889504"/>
            <a:ext cx="5282031" cy="1078992"/>
          </a:xfrm>
          <a:prstGeom prst="rect">
            <a:avLst/>
          </a:prstGeom>
          <a:noFill/>
        </p:spPr>
        <p:txBody>
          <a:bodyPr wrap="square"/>
          <a:lstStyle/>
          <a:p>
            <a:r>
              <a:rPr sz="1000" b="1" i="0" spc="180">
                <a:solidFill>
                  <a:srgbClr val="B91C1C"/>
                </a:solidFill>
                <a:latin typeface="Calibri"/>
              </a:rPr>
              <a:t>PROBLEM</a:t>
            </a:r>
          </a:p>
          <a:p>
            <a:pPr>
              <a:spcBef>
                <a:spcPts val="400"/>
              </a:spcBef>
            </a:pPr>
            <a:r>
              <a:rPr sz="1200" b="0" i="0">
                <a:solidFill>
                  <a:srgbClr val="111827"/>
                </a:solidFill>
                <a:latin typeface="Calibri"/>
              </a:rPr>
              <a:t>20–75 docs per claim; 90+ min finding</a:t>
            </a:r>
          </a:p>
          <a:p>
            <a:pPr>
              <a:spcBef>
                <a:spcPts val="400"/>
              </a:spcBef>
            </a:pPr>
            <a:r>
              <a:rPr sz="1200" b="0" i="0">
                <a:solidFill>
                  <a:srgbClr val="111827"/>
                </a:solidFill>
                <a:latin typeface="Calibri"/>
              </a:rPr>
              <a:t>Bottleneck is finding, not judging</a:t>
            </a:r>
          </a:p>
          <a:p>
            <a:pPr>
              <a:spcBef>
                <a:spcPts val="400"/>
              </a:spcBef>
            </a:pPr>
            <a:r>
              <a:rPr sz="1200" b="0" i="0">
                <a:solidFill>
                  <a:srgbClr val="111827"/>
                </a:solidFill>
                <a:latin typeface="Calibri"/>
              </a:rPr>
              <a:t>No systematic way to connect symptoms, barriers, eligibility</a:t>
            </a:r>
          </a:p>
          <a:p>
            <a:pPr>
              <a:spcBef>
                <a:spcPts val="400"/>
              </a:spcBef>
            </a:pPr>
            <a:r>
              <a:rPr sz="1200" b="0" i="0">
                <a:solidFill>
                  <a:srgbClr val="111827"/>
                </a:solidFill>
                <a:latin typeface="Calibri"/>
              </a:rPr>
              <a:t>CMs will not act without evidence</a:t>
            </a:r>
          </a:p>
        </p:txBody>
      </p:sp>
      <p:sp>
        <p:nvSpPr>
          <p:cNvPr id="39" name="Rounded Rectangle 38"/>
          <p:cNvSpPr/>
          <p:nvPr/>
        </p:nvSpPr>
        <p:spPr>
          <a:xfrm>
            <a:off x="6178143" y="2779776"/>
            <a:ext cx="5647791" cy="1280160"/>
          </a:xfrm>
          <a:prstGeom prst="roundRect">
            <a:avLst>
              <a:gd name="adj" fmla="val 8000"/>
            </a:avLst>
          </a:prstGeom>
          <a:solidFill>
            <a:srgbClr val="ECFDF5"/>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361023" y="2889504"/>
            <a:ext cx="5282031" cy="1078992"/>
          </a:xfrm>
          <a:prstGeom prst="rect">
            <a:avLst/>
          </a:prstGeom>
          <a:noFill/>
        </p:spPr>
        <p:txBody>
          <a:bodyPr wrap="square"/>
          <a:lstStyle/>
          <a:p>
            <a:r>
              <a:rPr sz="1000" b="1" i="0" spc="180">
                <a:solidFill>
                  <a:srgbClr val="047857"/>
                </a:solidFill>
                <a:latin typeface="Calibri"/>
              </a:rPr>
              <a:t>DISCOVERY</a:t>
            </a:r>
          </a:p>
          <a:p>
            <a:pPr>
              <a:spcBef>
                <a:spcPts val="400"/>
              </a:spcBef>
            </a:pPr>
            <a:r>
              <a:rPr sz="1200" b="0" i="0">
                <a:solidFill>
                  <a:srgbClr val="111827"/>
                </a:solidFill>
                <a:latin typeface="Calibri"/>
              </a:rPr>
              <a:t>Trust requires an evidence trace, not a score</a:t>
            </a:r>
          </a:p>
          <a:p>
            <a:pPr>
              <a:spcBef>
                <a:spcPts val="400"/>
              </a:spcBef>
            </a:pPr>
            <a:r>
              <a:rPr sz="1200" b="0" i="0">
                <a:solidFill>
                  <a:srgbClr val="111827"/>
                </a:solidFill>
                <a:latin typeface="Calibri"/>
              </a:rPr>
              <a:t>Production PHI unavailable in the sprint</a:t>
            </a:r>
          </a:p>
          <a:p>
            <a:pPr>
              <a:spcBef>
                <a:spcPts val="400"/>
              </a:spcBef>
            </a:pPr>
            <a:r>
              <a:rPr sz="1200" b="0" i="0">
                <a:solidFill>
                  <a:srgbClr val="111827"/>
                </a:solidFill>
                <a:latin typeface="Calibri"/>
              </a:rPr>
              <a:t>Synthetic data unblocked DS</a:t>
            </a:r>
          </a:p>
          <a:p>
            <a:pPr>
              <a:spcBef>
                <a:spcPts val="400"/>
              </a:spcBef>
            </a:pPr>
            <a:r>
              <a:rPr sz="1200" b="0" i="0">
                <a:solidFill>
                  <a:srgbClr val="111827"/>
                </a:solidFill>
                <a:latin typeface="Calibri"/>
              </a:rPr>
              <a:t>36 InnoFest ideas; 2-week prototype</a:t>
            </a:r>
          </a:p>
        </p:txBody>
      </p:sp>
      <p:sp>
        <p:nvSpPr>
          <p:cNvPr id="41" name="Rounded Rectangle 40"/>
          <p:cNvSpPr/>
          <p:nvPr/>
        </p:nvSpPr>
        <p:spPr>
          <a:xfrm>
            <a:off x="365760" y="4187952"/>
            <a:ext cx="3710330" cy="1225296"/>
          </a:xfrm>
          <a:prstGeom prst="roundRect">
            <a:avLst>
              <a:gd name="adj" fmla="val 8000"/>
            </a:avLst>
          </a:prstGeom>
          <a:solidFill>
            <a:srgbClr val="F9FAFB"/>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48640" y="4297680"/>
            <a:ext cx="3344570" cy="1024128"/>
          </a:xfrm>
          <a:prstGeom prst="rect">
            <a:avLst/>
          </a:prstGeom>
          <a:noFill/>
        </p:spPr>
        <p:txBody>
          <a:bodyPr wrap="square"/>
          <a:lstStyle/>
          <a:p>
            <a:r>
              <a:rPr sz="1000" b="1" i="0" spc="180">
                <a:solidFill>
                  <a:srgbClr val="047857"/>
                </a:solidFill>
                <a:latin typeface="Calibri"/>
              </a:rPr>
              <a:t>SHIPPED</a:t>
            </a:r>
          </a:p>
          <a:p>
            <a:pPr>
              <a:spcBef>
                <a:spcPts val="400"/>
              </a:spcBef>
            </a:pPr>
            <a:r>
              <a:rPr sz="1200" b="0" i="0">
                <a:solidFill>
                  <a:srgbClr val="111827"/>
                </a:solidFill>
                <a:latin typeface="Calibri"/>
              </a:rPr>
              <a:t>Retrieval over the document pile</a:t>
            </a:r>
          </a:p>
          <a:p>
            <a:pPr>
              <a:spcBef>
                <a:spcPts val="400"/>
              </a:spcBef>
            </a:pPr>
            <a:r>
              <a:rPr sz="1200" b="0" i="0">
                <a:solidFill>
                  <a:srgbClr val="111827"/>
                </a:solidFill>
                <a:latin typeface="Calibri"/>
              </a:rPr>
              <a:t>Evidence + mind map to the CM</a:t>
            </a:r>
          </a:p>
          <a:p>
            <a:pPr>
              <a:spcBef>
                <a:spcPts val="400"/>
              </a:spcBef>
            </a:pPr>
            <a:r>
              <a:rPr sz="1200" b="0" i="0">
                <a:solidFill>
                  <a:srgbClr val="111827"/>
                </a:solidFill>
                <a:latin typeface="Calibri"/>
              </a:rPr>
              <a:t>Blocked auto-decision by design</a:t>
            </a:r>
          </a:p>
          <a:p>
            <a:pPr>
              <a:spcBef>
                <a:spcPts val="400"/>
              </a:spcBef>
            </a:pPr>
            <a:r>
              <a:rPr sz="1200" b="0" i="0">
                <a:solidFill>
                  <a:srgbClr val="111827"/>
                </a:solidFill>
                <a:latin typeface="Calibri"/>
              </a:rPr>
              <a:t>CM-validated synthetic data (no production PHI)</a:t>
            </a:r>
          </a:p>
        </p:txBody>
      </p:sp>
      <p:sp>
        <p:nvSpPr>
          <p:cNvPr id="43" name="Rounded Rectangle 42"/>
          <p:cNvSpPr/>
          <p:nvPr/>
        </p:nvSpPr>
        <p:spPr>
          <a:xfrm>
            <a:off x="4240682" y="4187952"/>
            <a:ext cx="3710330" cy="1225296"/>
          </a:xfrm>
          <a:prstGeom prst="roundRect">
            <a:avLst>
              <a:gd name="adj" fmla="val 8000"/>
            </a:avLst>
          </a:prstGeom>
          <a:solidFill>
            <a:srgbClr val="F9FAFB"/>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423562" y="4297680"/>
            <a:ext cx="3344570" cy="1024128"/>
          </a:xfrm>
          <a:prstGeom prst="rect">
            <a:avLst/>
          </a:prstGeom>
          <a:noFill/>
        </p:spPr>
        <p:txBody>
          <a:bodyPr wrap="square"/>
          <a:lstStyle/>
          <a:p>
            <a:r>
              <a:rPr sz="1000" b="1" i="0" spc="180">
                <a:solidFill>
                  <a:srgbClr val="B91C1C"/>
                </a:solidFill>
                <a:latin typeface="Calibri"/>
              </a:rPr>
              <a:t>LAUNCH / FAILURE</a:t>
            </a:r>
          </a:p>
          <a:p>
            <a:pPr>
              <a:spcBef>
                <a:spcPts val="400"/>
              </a:spcBef>
            </a:pPr>
            <a:r>
              <a:rPr sz="1200" b="0" i="0">
                <a:solidFill>
                  <a:srgbClr val="111827"/>
                </a:solidFill>
                <a:latin typeface="Calibri"/>
              </a:rPr>
              <a:t>2-week InnoFest prototype — not production</a:t>
            </a:r>
          </a:p>
          <a:p>
            <a:pPr>
              <a:spcBef>
                <a:spcPts val="400"/>
              </a:spcBef>
            </a:pPr>
            <a:r>
              <a:rPr sz="1200" b="0" i="0">
                <a:solidFill>
                  <a:srgbClr val="111827"/>
                </a:solidFill>
                <a:latin typeface="Calibri"/>
              </a:rPr>
              <a:t>Assumed accuracy would land; stakeholders used the map</a:t>
            </a:r>
          </a:p>
          <a:p>
            <a:pPr>
              <a:spcBef>
                <a:spcPts val="400"/>
              </a:spcBef>
            </a:pPr>
            <a:r>
              <a:rPr sz="1200" b="0" i="0">
                <a:solidFill>
                  <a:srgbClr val="111827"/>
                </a:solidFill>
                <a:latin typeface="Calibri"/>
              </a:rPr>
              <a:t>No confidence / override patterns in the sprint</a:t>
            </a:r>
          </a:p>
        </p:txBody>
      </p:sp>
      <p:sp>
        <p:nvSpPr>
          <p:cNvPr id="45" name="Rounded Rectangle 44"/>
          <p:cNvSpPr/>
          <p:nvPr/>
        </p:nvSpPr>
        <p:spPr>
          <a:xfrm>
            <a:off x="8115604" y="4187952"/>
            <a:ext cx="3710330" cy="1225296"/>
          </a:xfrm>
          <a:prstGeom prst="roundRect">
            <a:avLst>
              <a:gd name="adj" fmla="val 8000"/>
            </a:avLst>
          </a:prstGeom>
          <a:solidFill>
            <a:srgbClr val="F9FAFB"/>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298484" y="4297680"/>
            <a:ext cx="3344570" cy="1024128"/>
          </a:xfrm>
          <a:prstGeom prst="rect">
            <a:avLst/>
          </a:prstGeom>
          <a:noFill/>
        </p:spPr>
        <p:txBody>
          <a:bodyPr wrap="square"/>
          <a:lstStyle/>
          <a:p>
            <a:r>
              <a:rPr sz="1000" b="1" i="0" spc="180">
                <a:solidFill>
                  <a:srgbClr val="111827"/>
                </a:solidFill>
                <a:latin typeface="Calibri"/>
              </a:rPr>
              <a:t>TRADEOFFS</a:t>
            </a:r>
          </a:p>
          <a:p>
            <a:pPr>
              <a:spcBef>
                <a:spcPts val="400"/>
              </a:spcBef>
            </a:pPr>
            <a:r>
              <a:rPr sz="1200" b="0" i="0">
                <a:solidFill>
                  <a:srgbClr val="111827"/>
                </a:solidFill>
                <a:latin typeface="Calibri"/>
              </a:rPr>
              <a:t>Auto-refer vs human-in-loop → human</a:t>
            </a:r>
          </a:p>
          <a:p>
            <a:pPr>
              <a:spcBef>
                <a:spcPts val="400"/>
              </a:spcBef>
            </a:pPr>
            <a:r>
              <a:rPr sz="1200" b="0" i="0">
                <a:solidFill>
                  <a:srgbClr val="111827"/>
                </a:solidFill>
                <a:latin typeface="Calibri"/>
              </a:rPr>
              <a:t>Ranked list vs mind map → mind map</a:t>
            </a:r>
          </a:p>
          <a:p>
            <a:pPr>
              <a:spcBef>
                <a:spcPts val="400"/>
              </a:spcBef>
            </a:pPr>
            <a:r>
              <a:rPr sz="1200" b="0" i="0">
                <a:solidFill>
                  <a:srgbClr val="111827"/>
                </a:solidFill>
                <a:latin typeface="Calibri"/>
              </a:rPr>
              <a:t>Wait on PHI vs synthetic → synthetic</a:t>
            </a:r>
          </a:p>
        </p:txBody>
      </p:sp>
      <p:sp>
        <p:nvSpPr>
          <p:cNvPr id="47" name="Rounded Rectangle 46"/>
          <p:cNvSpPr/>
          <p:nvPr/>
        </p:nvSpPr>
        <p:spPr>
          <a:xfrm>
            <a:off x="365760" y="5541264"/>
            <a:ext cx="7818120" cy="713232"/>
          </a:xfrm>
          <a:prstGeom prst="roundRect">
            <a:avLst>
              <a:gd name="adj" fmla="val 8000"/>
            </a:avLst>
          </a:prstGeom>
          <a:solidFill>
            <a:srgbClr val="ECF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66928" y="5632704"/>
            <a:ext cx="7452360" cy="164592"/>
          </a:xfrm>
          <a:prstGeom prst="rect">
            <a:avLst/>
          </a:prstGeom>
          <a:noFill/>
        </p:spPr>
        <p:txBody>
          <a:bodyPr wrap="square"/>
          <a:lstStyle/>
          <a:p>
            <a:pPr algn="l"/>
            <a:r>
              <a:rPr sz="1000" b="1" i="0" spc="180">
                <a:solidFill>
                  <a:srgbClr val="047857"/>
                </a:solidFill>
                <a:latin typeface="Calibri"/>
              </a:rPr>
              <a:t>OUTCOME</a:t>
            </a:r>
          </a:p>
        </p:txBody>
      </p:sp>
      <p:sp>
        <p:nvSpPr>
          <p:cNvPr id="49" name="TextBox 48"/>
          <p:cNvSpPr txBox="1"/>
          <p:nvPr/>
        </p:nvSpPr>
        <p:spPr>
          <a:xfrm>
            <a:off x="566928" y="5833872"/>
            <a:ext cx="7452360" cy="329184"/>
          </a:xfrm>
          <a:prstGeom prst="rect">
            <a:avLst/>
          </a:prstGeom>
          <a:noFill/>
        </p:spPr>
        <p:txBody>
          <a:bodyPr wrap="square"/>
          <a:lstStyle/>
          <a:p>
            <a:pPr algn="l"/>
            <a:r>
              <a:rPr sz="1300" b="1" i="0">
                <a:solidFill>
                  <a:srgbClr val="111827"/>
                </a:solidFill>
                <a:latin typeface="Calibri"/>
              </a:rPr>
              <a:t>Evidence to CM, not a score (user)    ·    Prototype · 2nd of 36 (signal)    ·    No minutes-saved claim</a:t>
            </a:r>
          </a:p>
        </p:txBody>
      </p:sp>
      <p:sp>
        <p:nvSpPr>
          <p:cNvPr id="50" name="Rounded Rectangle 49"/>
          <p:cNvSpPr/>
          <p:nvPr/>
        </p:nvSpPr>
        <p:spPr>
          <a:xfrm>
            <a:off x="8348472" y="5541264"/>
            <a:ext cx="3477463" cy="713232"/>
          </a:xfrm>
          <a:prstGeom prst="roundRect">
            <a:avLst>
              <a:gd name="adj" fmla="val 8000"/>
            </a:avLst>
          </a:prstGeom>
          <a:solidFill>
            <a:srgbClr val="F9FAFB"/>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513064" y="5632704"/>
            <a:ext cx="3184855" cy="164592"/>
          </a:xfrm>
          <a:prstGeom prst="rect">
            <a:avLst/>
          </a:prstGeom>
          <a:noFill/>
        </p:spPr>
        <p:txBody>
          <a:bodyPr wrap="square"/>
          <a:lstStyle/>
          <a:p>
            <a:pPr algn="l"/>
            <a:r>
              <a:rPr sz="1000" b="1" i="0" spc="180">
                <a:solidFill>
                  <a:srgbClr val="6B7280"/>
                </a:solidFill>
                <a:latin typeface="Calibri"/>
              </a:rPr>
              <a:t>WHY THIS MATTERS</a:t>
            </a:r>
          </a:p>
        </p:txBody>
      </p:sp>
      <p:sp>
        <p:nvSpPr>
          <p:cNvPr id="52" name="TextBox 51"/>
          <p:cNvSpPr txBox="1"/>
          <p:nvPr/>
        </p:nvSpPr>
        <p:spPr>
          <a:xfrm>
            <a:off x="8513064" y="5815584"/>
            <a:ext cx="3184855" cy="365760"/>
          </a:xfrm>
          <a:prstGeom prst="rect">
            <a:avLst/>
          </a:prstGeom>
          <a:noFill/>
        </p:spPr>
        <p:txBody>
          <a:bodyPr wrap="square"/>
          <a:lstStyle/>
          <a:p>
            <a:pPr algn="l"/>
            <a:r>
              <a:rPr sz="1200" b="0" i="0">
                <a:solidFill>
                  <a:srgbClr val="111827"/>
                </a:solidFill>
                <a:latin typeface="Calibri"/>
              </a:rPr>
              <a:t>Trust is the constraint, not model accuracy. Residual 5% stays human.</a:t>
            </a:r>
          </a:p>
        </p:txBody>
      </p:sp>
      <p:sp>
        <p:nvSpPr>
          <p:cNvPr id="53" name="TextBox 52"/>
          <p:cNvSpPr txBox="1"/>
          <p:nvPr/>
        </p:nvSpPr>
        <p:spPr>
          <a:xfrm>
            <a:off x="365760" y="6291072"/>
            <a:ext cx="11460175" cy="201168"/>
          </a:xfrm>
          <a:prstGeom prst="rect">
            <a:avLst/>
          </a:prstGeom>
          <a:noFill/>
        </p:spPr>
        <p:txBody>
          <a:bodyPr wrap="square"/>
          <a:lstStyle/>
          <a:p>
            <a:pPr algn="l"/>
            <a:r>
              <a:rPr sz="1000" b="0" i="0">
                <a:solidFill>
                  <a:srgbClr val="6B7280"/>
                </a:solidFill>
                <a:latin typeface="Calibri"/>
              </a:rPr>
              <a:t>Missed: confidence / override earlier    ·    no production validation    ·    CM touches → rules not shipped</a:t>
            </a:r>
          </a:p>
        </p:txBody>
      </p:sp>
      <p:sp>
        <p:nvSpPr>
          <p:cNvPr id="54" name="TextBox 53"/>
          <p:cNvSpPr txBox="1"/>
          <p:nvPr/>
        </p:nvSpPr>
        <p:spPr>
          <a:xfrm>
            <a:off x="365760" y="6565392"/>
            <a:ext cx="7863840" cy="201168"/>
          </a:xfrm>
          <a:prstGeom prst="rect">
            <a:avLst/>
          </a:prstGeom>
          <a:noFill/>
        </p:spPr>
        <p:txBody>
          <a:bodyPr wrap="square"/>
          <a:lstStyle/>
          <a:p>
            <a:pPr algn="l"/>
            <a:r>
              <a:rPr sz="1000" b="0" i="0">
                <a:solidFill>
                  <a:srgbClr val="6B7280"/>
                </a:solidFill>
                <a:latin typeface="Calibri"/>
              </a:rPr>
              <a:t>Healthcare systems fail upstream. I fix input quality instead of scaling downstream ops.    ·    3/6</a:t>
            </a:r>
          </a:p>
        </p:txBody>
      </p:sp>
      <p:sp>
        <p:nvSpPr>
          <p:cNvPr id="55" name="TextBox 54"/>
          <p:cNvSpPr txBox="1"/>
          <p:nvPr/>
        </p:nvSpPr>
        <p:spPr>
          <a:xfrm>
            <a:off x="8321040" y="6565392"/>
            <a:ext cx="3474720" cy="201168"/>
          </a:xfrm>
          <a:prstGeom prst="rect">
            <a:avLst/>
          </a:prstGeom>
          <a:noFill/>
        </p:spPr>
        <p:txBody>
          <a:bodyPr wrap="square"/>
          <a:lstStyle/>
          <a:p>
            <a:pPr algn="r"/>
            <a:r>
              <a:rPr sz="1000" b="0" i="0">
                <a:solidFill>
                  <a:srgbClr val="6B7280"/>
                </a:solidFill>
                <a:latin typeface="Calibri"/>
              </a:rPr>
              <a:t>Scope  No production PHI · 2-week sprint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114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11460175" cy="164592"/>
          </a:xfrm>
          <a:prstGeom prst="rect">
            <a:avLst/>
          </a:prstGeom>
          <a:noFill/>
        </p:spPr>
        <p:txBody>
          <a:bodyPr wrap="square"/>
          <a:lstStyle/>
          <a:p>
            <a:pPr algn="l"/>
            <a:r>
              <a:rPr sz="1000" b="1" i="0" spc="200">
                <a:solidFill>
                  <a:srgbClr val="7C3AED"/>
                </a:solidFill>
                <a:latin typeface="Calibri"/>
              </a:rPr>
              <a:t>4  ·  VISION  ·  HOP / PRODUCT LEAD</a:t>
            </a:r>
          </a:p>
        </p:txBody>
      </p:sp>
      <p:sp>
        <p:nvSpPr>
          <p:cNvPr id="5" name="TextBox 4"/>
          <p:cNvSpPr txBox="1"/>
          <p:nvPr/>
        </p:nvSpPr>
        <p:spPr>
          <a:xfrm>
            <a:off x="365760" y="237744"/>
            <a:ext cx="11460175" cy="310896"/>
          </a:xfrm>
          <a:prstGeom prst="rect">
            <a:avLst/>
          </a:prstGeom>
          <a:noFill/>
        </p:spPr>
        <p:txBody>
          <a:bodyPr wrap="square"/>
          <a:lstStyle/>
          <a:p>
            <a:pPr algn="l"/>
            <a:r>
              <a:rPr sz="2200" b="1" i="0">
                <a:solidFill>
                  <a:srgbClr val="111827"/>
                </a:solidFill>
                <a:latin typeface="Calibri"/>
              </a:rPr>
              <a:t>After failure → change the system that produces claims</a:t>
            </a:r>
          </a:p>
        </p:txBody>
      </p:sp>
      <p:sp>
        <p:nvSpPr>
          <p:cNvPr id="6" name="TextBox 5"/>
          <p:cNvSpPr txBox="1"/>
          <p:nvPr/>
        </p:nvSpPr>
        <p:spPr>
          <a:xfrm>
            <a:off x="365760" y="530352"/>
            <a:ext cx="11460175" cy="164592"/>
          </a:xfrm>
          <a:prstGeom prst="rect">
            <a:avLst/>
          </a:prstGeom>
          <a:noFill/>
        </p:spPr>
        <p:txBody>
          <a:bodyPr wrap="square"/>
          <a:lstStyle/>
          <a:p>
            <a:r>
              <a:rPr sz="1000" b="1" i="0">
                <a:solidFill>
                  <a:srgbClr val="6B7280"/>
                </a:solidFill>
                <a:latin typeface="Calibri"/>
              </a:rPr>
              <a:t>Industry  </a:t>
            </a:r>
            <a:r>
              <a:rPr sz="1000" b="0" i="0">
                <a:solidFill>
                  <a:srgbClr val="6B7280"/>
                </a:solidFill>
                <a:latin typeface="Calibri"/>
              </a:rPr>
              <a:t>AI denial arms race     ·     </a:t>
            </a:r>
            <a:r>
              <a:rPr sz="1000" b="1" i="0">
                <a:solidFill>
                  <a:srgbClr val="6B7280"/>
                </a:solidFill>
                <a:latin typeface="Calibri"/>
              </a:rPr>
              <a:t>Constraint  </a:t>
            </a:r>
            <a:r>
              <a:rPr sz="1000" b="0" i="0">
                <a:solidFill>
                  <a:srgbClr val="6B7280"/>
                </a:solidFill>
                <a:latin typeface="Calibri"/>
              </a:rPr>
              <a:t>Residual tail at high touchless     ·     </a:t>
            </a:r>
            <a:r>
              <a:rPr sz="1000" b="1" i="0">
                <a:solidFill>
                  <a:srgbClr val="6B7280"/>
                </a:solidFill>
                <a:latin typeface="Calibri"/>
              </a:rPr>
              <a:t>Trigger  </a:t>
            </a:r>
            <a:r>
              <a:rPr sz="1000" b="0" i="0">
                <a:solidFill>
                  <a:srgbClr val="6B7280"/>
                </a:solidFill>
                <a:latin typeface="Calibri"/>
              </a:rPr>
              <a:t>Claims still born wrong</a:t>
            </a:r>
          </a:p>
        </p:txBody>
      </p:sp>
      <p:sp>
        <p:nvSpPr>
          <p:cNvPr id="7" name="TextBox 6"/>
          <p:cNvSpPr txBox="1"/>
          <p:nvPr/>
        </p:nvSpPr>
        <p:spPr>
          <a:xfrm>
            <a:off x="365760" y="676656"/>
            <a:ext cx="11460175" cy="164592"/>
          </a:xfrm>
          <a:prstGeom prst="rect">
            <a:avLst/>
          </a:prstGeom>
          <a:noFill/>
        </p:spPr>
        <p:txBody>
          <a:bodyPr wrap="square"/>
          <a:lstStyle/>
          <a:p>
            <a:pPr algn="l"/>
            <a:r>
              <a:rPr sz="1100" b="0" i="1">
                <a:solidFill>
                  <a:srgbClr val="6B7280"/>
                </a:solidFill>
                <a:latin typeface="Calibri"/>
              </a:rPr>
              <a:t>Market and law converge on assist, don’t replace.</a:t>
            </a:r>
          </a:p>
        </p:txBody>
      </p:sp>
      <p:sp>
        <p:nvSpPr>
          <p:cNvPr id="8" name="TextBox 7"/>
          <p:cNvSpPr txBox="1"/>
          <p:nvPr/>
        </p:nvSpPr>
        <p:spPr>
          <a:xfrm>
            <a:off x="365760" y="932688"/>
            <a:ext cx="3108960" cy="182880"/>
          </a:xfrm>
          <a:prstGeom prst="rect">
            <a:avLst/>
          </a:prstGeom>
          <a:noFill/>
        </p:spPr>
        <p:txBody>
          <a:bodyPr wrap="square"/>
          <a:lstStyle/>
          <a:p>
            <a:pPr algn="l"/>
            <a:r>
              <a:rPr sz="1000" b="1" i="0" spc="180">
                <a:solidFill>
                  <a:srgbClr val="B91C1C"/>
                </a:solidFill>
                <a:latin typeface="Calibri"/>
              </a:rPr>
              <a:t>CANDID TODAY</a:t>
            </a:r>
          </a:p>
        </p:txBody>
      </p:sp>
      <p:sp>
        <p:nvSpPr>
          <p:cNvPr id="9" name="Rounded Rectangle 8"/>
          <p:cNvSpPr/>
          <p:nvPr/>
        </p:nvSpPr>
        <p:spPr>
          <a:xfrm>
            <a:off x="365760" y="1115568"/>
            <a:ext cx="2673019" cy="402336"/>
          </a:xfrm>
          <a:prstGeom prst="roundRect">
            <a:avLst>
              <a:gd name="adj" fmla="val 8000"/>
            </a:avLst>
          </a:prstGeom>
          <a:solidFill>
            <a:srgbClr val="FEF2F2"/>
          </a:solidFill>
          <a:ln w="12700">
            <a:solidFill>
              <a:srgbClr val="FE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0624" y="1170432"/>
            <a:ext cx="2563291" cy="292608"/>
          </a:xfrm>
          <a:prstGeom prst="rect">
            <a:avLst/>
          </a:prstGeom>
          <a:noFill/>
        </p:spPr>
        <p:txBody>
          <a:bodyPr wrap="square"/>
          <a:lstStyle/>
          <a:p>
            <a:pPr algn="ctr"/>
            <a:r>
              <a:rPr sz="1100" b="1" i="0">
                <a:solidFill>
                  <a:srgbClr val="B91C1C"/>
                </a:solidFill>
                <a:latin typeface="Calibri"/>
              </a:rPr>
              <a:t>Fail</a:t>
            </a:r>
          </a:p>
        </p:txBody>
      </p:sp>
      <p:sp>
        <p:nvSpPr>
          <p:cNvPr id="11" name="Right Arrow 10"/>
          <p:cNvSpPr/>
          <p:nvPr/>
        </p:nvSpPr>
        <p:spPr>
          <a:xfrm>
            <a:off x="3075355" y="1252728"/>
            <a:ext cx="182880" cy="128016"/>
          </a:xfrm>
          <a:prstGeom prst="rightArrow">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294811" y="1115568"/>
            <a:ext cx="2673019" cy="402336"/>
          </a:xfrm>
          <a:prstGeom prst="roundRect">
            <a:avLst>
              <a:gd name="adj" fmla="val 8000"/>
            </a:avLst>
          </a:prstGeom>
          <a:solidFill>
            <a:srgbClr val="F9FAFB"/>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349675" y="1170432"/>
            <a:ext cx="2563291" cy="292608"/>
          </a:xfrm>
          <a:prstGeom prst="rect">
            <a:avLst/>
          </a:prstGeom>
          <a:noFill/>
        </p:spPr>
        <p:txBody>
          <a:bodyPr wrap="square"/>
          <a:lstStyle/>
          <a:p>
            <a:pPr algn="ctr"/>
            <a:r>
              <a:rPr sz="1100" b="1" i="0">
                <a:solidFill>
                  <a:srgbClr val="111827"/>
                </a:solidFill>
                <a:latin typeface="Calibri"/>
              </a:rPr>
              <a:t>Agent executes</a:t>
            </a:r>
          </a:p>
        </p:txBody>
      </p:sp>
      <p:sp>
        <p:nvSpPr>
          <p:cNvPr id="14" name="Right Arrow 13"/>
          <p:cNvSpPr/>
          <p:nvPr/>
        </p:nvSpPr>
        <p:spPr>
          <a:xfrm>
            <a:off x="6004407" y="1252728"/>
            <a:ext cx="182880" cy="128016"/>
          </a:xfrm>
          <a:prstGeom prst="right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23863" y="1115568"/>
            <a:ext cx="2673019" cy="402336"/>
          </a:xfrm>
          <a:prstGeom prst="roundRect">
            <a:avLst>
              <a:gd name="adj" fmla="val 8000"/>
            </a:avLst>
          </a:prstGeom>
          <a:solidFill>
            <a:srgbClr val="F9FAFB"/>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7" y="1170432"/>
            <a:ext cx="2563291" cy="292608"/>
          </a:xfrm>
          <a:prstGeom prst="rect">
            <a:avLst/>
          </a:prstGeom>
          <a:noFill/>
        </p:spPr>
        <p:txBody>
          <a:bodyPr wrap="square"/>
          <a:lstStyle/>
          <a:p>
            <a:pPr algn="ctr"/>
            <a:r>
              <a:rPr sz="1100" b="1" i="0">
                <a:solidFill>
                  <a:srgbClr val="111827"/>
                </a:solidFill>
                <a:latin typeface="Calibri"/>
              </a:rPr>
              <a:t>Rule</a:t>
            </a:r>
          </a:p>
        </p:txBody>
      </p:sp>
      <p:sp>
        <p:nvSpPr>
          <p:cNvPr id="17" name="Right Arrow 16"/>
          <p:cNvSpPr/>
          <p:nvPr/>
        </p:nvSpPr>
        <p:spPr>
          <a:xfrm>
            <a:off x="8933459" y="1252728"/>
            <a:ext cx="182880" cy="128016"/>
          </a:xfrm>
          <a:prstGeom prst="right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152915" y="1115568"/>
            <a:ext cx="2673019" cy="402336"/>
          </a:xfrm>
          <a:prstGeom prst="roundRect">
            <a:avLst>
              <a:gd name="adj" fmla="val 8000"/>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207779" y="1170432"/>
            <a:ext cx="2563291" cy="292608"/>
          </a:xfrm>
          <a:prstGeom prst="rect">
            <a:avLst/>
          </a:prstGeom>
          <a:noFill/>
        </p:spPr>
        <p:txBody>
          <a:bodyPr wrap="square"/>
          <a:lstStyle/>
          <a:p>
            <a:pPr algn="ctr"/>
            <a:r>
              <a:rPr sz="1100" b="1" i="0">
                <a:solidFill>
                  <a:srgbClr val="6B7280"/>
                </a:solidFill>
                <a:latin typeface="Calibri"/>
              </a:rPr>
              <a:t>Next claim</a:t>
            </a:r>
          </a:p>
        </p:txBody>
      </p:sp>
      <p:sp>
        <p:nvSpPr>
          <p:cNvPr id="20" name="TextBox 19"/>
          <p:cNvSpPr txBox="1"/>
          <p:nvPr/>
        </p:nvSpPr>
        <p:spPr>
          <a:xfrm>
            <a:off x="365760" y="1591056"/>
            <a:ext cx="3108960" cy="182880"/>
          </a:xfrm>
          <a:prstGeom prst="rect">
            <a:avLst/>
          </a:prstGeom>
          <a:noFill/>
        </p:spPr>
        <p:txBody>
          <a:bodyPr wrap="square"/>
          <a:lstStyle/>
          <a:p>
            <a:pPr algn="l"/>
            <a:r>
              <a:rPr sz="1000" b="1" i="0" spc="180">
                <a:solidFill>
                  <a:srgbClr val="047857"/>
                </a:solidFill>
                <a:latin typeface="Calibri"/>
              </a:rPr>
              <a:t>NEXT LAYER</a:t>
            </a:r>
          </a:p>
        </p:txBody>
      </p:sp>
      <p:sp>
        <p:nvSpPr>
          <p:cNvPr id="21" name="Rounded Rectangle 20"/>
          <p:cNvSpPr/>
          <p:nvPr/>
        </p:nvSpPr>
        <p:spPr>
          <a:xfrm>
            <a:off x="365760" y="1773936"/>
            <a:ext cx="2673019" cy="402336"/>
          </a:xfrm>
          <a:prstGeom prst="roundRect">
            <a:avLst>
              <a:gd name="adj" fmla="val 8000"/>
            </a:avLst>
          </a:prstGeom>
          <a:solidFill>
            <a:srgbClr val="F9FAFB"/>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20624" y="1828800"/>
            <a:ext cx="2563291" cy="292608"/>
          </a:xfrm>
          <a:prstGeom prst="rect">
            <a:avLst/>
          </a:prstGeom>
          <a:noFill/>
        </p:spPr>
        <p:txBody>
          <a:bodyPr wrap="square"/>
          <a:lstStyle/>
          <a:p>
            <a:pPr algn="ctr"/>
            <a:r>
              <a:rPr sz="1100" b="1" i="0">
                <a:solidFill>
                  <a:srgbClr val="111827"/>
                </a:solidFill>
                <a:latin typeface="Calibri"/>
              </a:rPr>
              <a:t>Pattern emerging</a:t>
            </a:r>
          </a:p>
        </p:txBody>
      </p:sp>
      <p:sp>
        <p:nvSpPr>
          <p:cNvPr id="23" name="Right Arrow 22"/>
          <p:cNvSpPr/>
          <p:nvPr/>
        </p:nvSpPr>
        <p:spPr>
          <a:xfrm>
            <a:off x="3075355" y="1911096"/>
            <a:ext cx="182880" cy="128016"/>
          </a:xfrm>
          <a:prstGeom prst="rightArrow">
            <a:avLst/>
          </a:prstGeom>
          <a:solidFill>
            <a:srgbClr val="047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3294811" y="1773936"/>
            <a:ext cx="2673019" cy="402336"/>
          </a:xfrm>
          <a:prstGeom prst="roundRect">
            <a:avLst>
              <a:gd name="adj" fmla="val 8000"/>
            </a:avLst>
          </a:prstGeom>
          <a:solidFill>
            <a:srgbClr val="ECFDF5"/>
          </a:solidFill>
          <a:ln w="12700">
            <a:solidFill>
              <a:srgbClr val="ECFD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349675" y="1828800"/>
            <a:ext cx="2563291" cy="292608"/>
          </a:xfrm>
          <a:prstGeom prst="rect">
            <a:avLst/>
          </a:prstGeom>
          <a:noFill/>
        </p:spPr>
        <p:txBody>
          <a:bodyPr wrap="square"/>
          <a:lstStyle/>
          <a:p>
            <a:pPr algn="ctr"/>
            <a:r>
              <a:rPr sz="1100" b="1" i="0">
                <a:solidFill>
                  <a:srgbClr val="047857"/>
                </a:solidFill>
                <a:latin typeface="Calibri"/>
              </a:rPr>
              <a:t>Infer cause</a:t>
            </a:r>
          </a:p>
        </p:txBody>
      </p:sp>
      <p:sp>
        <p:nvSpPr>
          <p:cNvPr id="26" name="Right Arrow 25"/>
          <p:cNvSpPr/>
          <p:nvPr/>
        </p:nvSpPr>
        <p:spPr>
          <a:xfrm>
            <a:off x="6004407" y="1911096"/>
            <a:ext cx="182880" cy="128016"/>
          </a:xfrm>
          <a:prstGeom prst="rightArrow">
            <a:avLst/>
          </a:prstGeom>
          <a:solidFill>
            <a:srgbClr val="047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23863" y="1773936"/>
            <a:ext cx="2673019" cy="402336"/>
          </a:xfrm>
          <a:prstGeom prst="roundRect">
            <a:avLst>
              <a:gd name="adj" fmla="val 8000"/>
            </a:avLst>
          </a:prstGeom>
          <a:solidFill>
            <a:srgbClr val="ECFDF5"/>
          </a:solidFill>
          <a:ln w="12700">
            <a:solidFill>
              <a:srgbClr val="ECFD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7" y="1828800"/>
            <a:ext cx="2563291" cy="292608"/>
          </a:xfrm>
          <a:prstGeom prst="rect">
            <a:avLst/>
          </a:prstGeom>
          <a:noFill/>
        </p:spPr>
        <p:txBody>
          <a:bodyPr wrap="square"/>
          <a:lstStyle/>
          <a:p>
            <a:pPr algn="ctr"/>
            <a:r>
              <a:rPr sz="1100" b="1" i="0">
                <a:solidFill>
                  <a:srgbClr val="047857"/>
                </a:solidFill>
                <a:latin typeface="Calibri"/>
              </a:rPr>
              <a:t>Change default</a:t>
            </a:r>
          </a:p>
        </p:txBody>
      </p:sp>
      <p:sp>
        <p:nvSpPr>
          <p:cNvPr id="29" name="Right Arrow 28"/>
          <p:cNvSpPr/>
          <p:nvPr/>
        </p:nvSpPr>
        <p:spPr>
          <a:xfrm>
            <a:off x="8933459" y="1911096"/>
            <a:ext cx="182880" cy="128016"/>
          </a:xfrm>
          <a:prstGeom prst="rightArrow">
            <a:avLst/>
          </a:prstGeom>
          <a:solidFill>
            <a:srgbClr val="047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9152915" y="1773936"/>
            <a:ext cx="2673019" cy="402336"/>
          </a:xfrm>
          <a:prstGeom prst="roundRect">
            <a:avLst>
              <a:gd name="adj" fmla="val 8000"/>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207779" y="1828800"/>
            <a:ext cx="2563291" cy="292608"/>
          </a:xfrm>
          <a:prstGeom prst="rect">
            <a:avLst/>
          </a:prstGeom>
          <a:noFill/>
        </p:spPr>
        <p:txBody>
          <a:bodyPr wrap="square"/>
          <a:lstStyle/>
          <a:p>
            <a:pPr algn="ctr"/>
            <a:r>
              <a:rPr sz="1100" b="1" i="0">
                <a:solidFill>
                  <a:srgbClr val="6B7280"/>
                </a:solidFill>
                <a:latin typeface="Calibri"/>
              </a:rPr>
              <a:t>Claim never wrong</a:t>
            </a:r>
          </a:p>
        </p:txBody>
      </p:sp>
      <p:sp>
        <p:nvSpPr>
          <p:cNvPr id="32" name="Rounded Rectangle 31"/>
          <p:cNvSpPr/>
          <p:nvPr/>
        </p:nvSpPr>
        <p:spPr>
          <a:xfrm>
            <a:off x="365760" y="2286000"/>
            <a:ext cx="11460175" cy="384048"/>
          </a:xfrm>
          <a:prstGeom prst="roundRect">
            <a:avLst>
              <a:gd name="adj" fmla="val 8000"/>
            </a:avLst>
          </a:prstGeom>
          <a:solidFill>
            <a:srgbClr val="F5F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66928" y="2359152"/>
            <a:ext cx="11057839" cy="256032"/>
          </a:xfrm>
          <a:prstGeom prst="rect">
            <a:avLst/>
          </a:prstGeom>
          <a:noFill/>
        </p:spPr>
        <p:txBody>
          <a:bodyPr wrap="square"/>
          <a:lstStyle/>
          <a:p>
            <a:pPr algn="l"/>
            <a:r>
              <a:rPr sz="1400" b="1" i="0">
                <a:solidFill>
                  <a:srgbClr val="7C3AED"/>
                </a:solidFill>
                <a:latin typeface="Calibri"/>
              </a:rPr>
              <a:t>Candid learns from resolved errors. Next: learn from emerging patterns before they scale.</a:t>
            </a:r>
          </a:p>
        </p:txBody>
      </p:sp>
      <p:sp>
        <p:nvSpPr>
          <p:cNvPr id="34" name="Rounded Rectangle 33"/>
          <p:cNvSpPr/>
          <p:nvPr/>
        </p:nvSpPr>
        <p:spPr>
          <a:xfrm>
            <a:off x="365760" y="2779776"/>
            <a:ext cx="5647791" cy="1280160"/>
          </a:xfrm>
          <a:prstGeom prst="roundRect">
            <a:avLst>
              <a:gd name="adj" fmla="val 8000"/>
            </a:avLst>
          </a:prstGeom>
          <a:solidFill>
            <a:srgbClr val="FEF2F2"/>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48640" y="2889504"/>
            <a:ext cx="5282031" cy="1078992"/>
          </a:xfrm>
          <a:prstGeom prst="rect">
            <a:avLst/>
          </a:prstGeom>
          <a:noFill/>
        </p:spPr>
        <p:txBody>
          <a:bodyPr wrap="square"/>
          <a:lstStyle/>
          <a:p>
            <a:r>
              <a:rPr sz="1000" b="1" i="0" spc="180">
                <a:solidFill>
                  <a:srgbClr val="B91C1C"/>
                </a:solidFill>
                <a:latin typeface="Calibri"/>
              </a:rPr>
              <a:t>WHERE THE INDUSTRY BREAKS</a:t>
            </a:r>
          </a:p>
          <a:p>
            <a:pPr>
              <a:spcBef>
                <a:spcPts val="400"/>
              </a:spcBef>
            </a:pPr>
            <a:r>
              <a:rPr sz="1200" b="0" i="0">
                <a:solidFill>
                  <a:srgbClr val="111827"/>
                </a:solidFill>
                <a:latin typeface="Calibri"/>
              </a:rPr>
              <a:t>Payers auto-deny on missing data / coding in seconds</a:t>
            </a:r>
          </a:p>
          <a:p>
            <a:pPr>
              <a:spcBef>
                <a:spcPts val="400"/>
              </a:spcBef>
            </a:pPr>
            <a:r>
              <a:rPr sz="1200" b="0" i="0">
                <a:solidFill>
                  <a:srgbClr val="111827"/>
                </a:solidFill>
                <a:latin typeface="Calibri"/>
              </a:rPr>
              <a:t>Providers racing to pre-submit prediction</a:t>
            </a:r>
          </a:p>
          <a:p>
            <a:pPr>
              <a:spcBef>
                <a:spcPts val="400"/>
              </a:spcBef>
            </a:pPr>
            <a:r>
              <a:rPr sz="1200" b="0" i="0">
                <a:solidFill>
                  <a:srgbClr val="111827"/>
                </a:solidFill>
                <a:latin typeface="Calibri"/>
              </a:rPr>
              <a:t>Regulatory backlash on AI denials → HITL, not full autonomy</a:t>
            </a:r>
          </a:p>
          <a:p>
            <a:pPr>
              <a:spcBef>
                <a:spcPts val="400"/>
              </a:spcBef>
            </a:pPr>
            <a:r>
              <a:rPr sz="1200" b="0" i="0">
                <a:solidFill>
                  <a:srgbClr val="111827"/>
                </a:solidFill>
                <a:latin typeface="Calibri"/>
              </a:rPr>
              <a:t>Residual cases get harder as touchless rises</a:t>
            </a:r>
          </a:p>
        </p:txBody>
      </p:sp>
      <p:sp>
        <p:nvSpPr>
          <p:cNvPr id="36" name="Rounded Rectangle 35"/>
          <p:cNvSpPr/>
          <p:nvPr/>
        </p:nvSpPr>
        <p:spPr>
          <a:xfrm>
            <a:off x="6178143" y="2779776"/>
            <a:ext cx="5647791" cy="1280160"/>
          </a:xfrm>
          <a:prstGeom prst="roundRect">
            <a:avLst>
              <a:gd name="adj" fmla="val 8000"/>
            </a:avLst>
          </a:prstGeom>
          <a:solidFill>
            <a:srgbClr val="ECFDF5"/>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361023" y="2889504"/>
            <a:ext cx="5282031" cy="1078992"/>
          </a:xfrm>
          <a:prstGeom prst="rect">
            <a:avLst/>
          </a:prstGeom>
          <a:noFill/>
        </p:spPr>
        <p:txBody>
          <a:bodyPr wrap="square"/>
          <a:lstStyle/>
          <a:p>
            <a:r>
              <a:rPr sz="1000" b="1" i="0" spc="180">
                <a:solidFill>
                  <a:srgbClr val="047857"/>
                </a:solidFill>
                <a:latin typeface="Calibri"/>
              </a:rPr>
              <a:t>WHAT I’D ADD</a:t>
            </a:r>
          </a:p>
          <a:p>
            <a:pPr>
              <a:spcBef>
                <a:spcPts val="400"/>
              </a:spcBef>
            </a:pPr>
            <a:r>
              <a:rPr sz="1200" b="0" i="0">
                <a:solidFill>
                  <a:srgbClr val="111827"/>
                </a:solidFill>
                <a:latin typeface="Calibri"/>
              </a:rPr>
              <a:t>Decision agents that change defaults / workflows, not just fix claims</a:t>
            </a:r>
          </a:p>
          <a:p>
            <a:pPr>
              <a:spcBef>
                <a:spcPts val="400"/>
              </a:spcBef>
            </a:pPr>
            <a:r>
              <a:rPr sz="1200" b="0" i="0">
                <a:solidFill>
                  <a:srgbClr val="111827"/>
                </a:solidFill>
                <a:latin typeface="Calibri"/>
              </a:rPr>
              <a:t>Infer provider-level miscode as intake/training issue</a:t>
            </a:r>
          </a:p>
          <a:p>
            <a:pPr>
              <a:spcBef>
                <a:spcPts val="400"/>
              </a:spcBef>
            </a:pPr>
            <a:r>
              <a:rPr sz="1200" b="0" i="0">
                <a:solidFill>
                  <a:srgbClr val="111827"/>
                </a:solidFill>
                <a:latin typeface="Calibri"/>
              </a:rPr>
              <a:t>Payer × CPT drift across the customer base</a:t>
            </a:r>
          </a:p>
          <a:p>
            <a:pPr>
              <a:spcBef>
                <a:spcPts val="400"/>
              </a:spcBef>
            </a:pPr>
            <a:r>
              <a:rPr sz="1200" b="0" i="0">
                <a:solidFill>
                  <a:srgbClr val="111827"/>
                </a:solidFill>
                <a:latin typeface="Calibri"/>
              </a:rPr>
              <a:t>Integrate EMR-embedded billing; don’t replace it</a:t>
            </a:r>
          </a:p>
        </p:txBody>
      </p:sp>
      <p:sp>
        <p:nvSpPr>
          <p:cNvPr id="38" name="Rounded Rectangle 37"/>
          <p:cNvSpPr/>
          <p:nvPr/>
        </p:nvSpPr>
        <p:spPr>
          <a:xfrm>
            <a:off x="365760" y="4187952"/>
            <a:ext cx="3710330" cy="1225296"/>
          </a:xfrm>
          <a:prstGeom prst="roundRect">
            <a:avLst>
              <a:gd name="adj" fmla="val 8000"/>
            </a:avLst>
          </a:prstGeom>
          <a:solidFill>
            <a:srgbClr val="F9FAFB"/>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48640" y="4297680"/>
            <a:ext cx="3344570" cy="1024128"/>
          </a:xfrm>
          <a:prstGeom prst="rect">
            <a:avLst/>
          </a:prstGeom>
          <a:noFill/>
        </p:spPr>
        <p:txBody>
          <a:bodyPr wrap="square"/>
          <a:lstStyle/>
          <a:p>
            <a:r>
              <a:rPr sz="1000" b="1" i="0" spc="180">
                <a:solidFill>
                  <a:srgbClr val="111827"/>
                </a:solidFill>
                <a:latin typeface="Calibri"/>
              </a:rPr>
              <a:t>ON CANDID’S ROADMAP</a:t>
            </a:r>
          </a:p>
          <a:p>
            <a:pPr>
              <a:spcBef>
                <a:spcPts val="400"/>
              </a:spcBef>
            </a:pPr>
            <a:r>
              <a:rPr sz="1200" b="0" i="0">
                <a:solidFill>
                  <a:srgbClr val="111827"/>
                </a:solidFill>
                <a:latin typeface="Calibri"/>
              </a:rPr>
              <a:t>Execution agents (portal, policy, hold, stale)</a:t>
            </a:r>
          </a:p>
          <a:p>
            <a:pPr>
              <a:spcBef>
                <a:spcPts val="400"/>
              </a:spcBef>
            </a:pPr>
            <a:r>
              <a:rPr sz="1200" b="0" i="0">
                <a:solidFill>
                  <a:srgbClr val="111827"/>
                </a:solidFill>
                <a:latin typeface="Calibri"/>
              </a:rPr>
              <a:t>Push notify + cited Q&amp;A</a:t>
            </a:r>
          </a:p>
          <a:p>
            <a:pPr>
              <a:spcBef>
                <a:spcPts val="400"/>
              </a:spcBef>
            </a:pPr>
            <a:r>
              <a:rPr sz="1200" b="0" i="0">
                <a:solidFill>
                  <a:srgbClr val="111827"/>
                </a:solidFill>
                <a:latin typeface="Calibri"/>
              </a:rPr>
              <a:t>Error → rule flywheel</a:t>
            </a:r>
          </a:p>
          <a:p>
            <a:pPr>
              <a:spcBef>
                <a:spcPts val="400"/>
              </a:spcBef>
            </a:pPr>
            <a:r>
              <a:rPr sz="1200" b="0" i="0">
                <a:solidFill>
                  <a:srgbClr val="111827"/>
                </a:solidFill>
                <a:latin typeface="Calibri"/>
              </a:rPr>
              <a:t>HITL on the residual</a:t>
            </a:r>
          </a:p>
        </p:txBody>
      </p:sp>
      <p:sp>
        <p:nvSpPr>
          <p:cNvPr id="40" name="Rounded Rectangle 39"/>
          <p:cNvSpPr/>
          <p:nvPr/>
        </p:nvSpPr>
        <p:spPr>
          <a:xfrm>
            <a:off x="4240682" y="4187952"/>
            <a:ext cx="3710330" cy="1225296"/>
          </a:xfrm>
          <a:prstGeom prst="roundRect">
            <a:avLst>
              <a:gd name="adj" fmla="val 8000"/>
            </a:avLst>
          </a:prstGeom>
          <a:solidFill>
            <a:srgbClr val="F9FAFB"/>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423562" y="4297680"/>
            <a:ext cx="3344570" cy="1024128"/>
          </a:xfrm>
          <a:prstGeom prst="rect">
            <a:avLst/>
          </a:prstGeom>
          <a:noFill/>
        </p:spPr>
        <p:txBody>
          <a:bodyPr wrap="square"/>
          <a:lstStyle/>
          <a:p>
            <a:r>
              <a:rPr sz="1000" b="1" i="0" spc="180">
                <a:solidFill>
                  <a:srgbClr val="7C3AED"/>
                </a:solidFill>
                <a:latin typeface="Calibri"/>
              </a:rPr>
              <a:t>DECISION</a:t>
            </a:r>
          </a:p>
          <a:p>
            <a:pPr>
              <a:spcBef>
                <a:spcPts val="400"/>
              </a:spcBef>
            </a:pPr>
            <a:r>
              <a:rPr sz="1200" b="0" i="0">
                <a:solidFill>
                  <a:srgbClr val="111827"/>
                </a:solidFill>
                <a:latin typeface="Calibri"/>
              </a:rPr>
              <a:t>Extend execution into proactive intelligence</a:t>
            </a:r>
          </a:p>
          <a:p>
            <a:pPr>
              <a:spcBef>
                <a:spcPts val="400"/>
              </a:spcBef>
            </a:pPr>
            <a:r>
              <a:rPr sz="1200" b="0" i="0">
                <a:solidFill>
                  <a:srgbClr val="111827"/>
                </a:solidFill>
                <a:latin typeface="Calibri"/>
              </a:rPr>
              <a:t>Assist, don’t replace (regulation agrees)</a:t>
            </a:r>
          </a:p>
          <a:p>
            <a:pPr>
              <a:spcBef>
                <a:spcPts val="400"/>
              </a:spcBef>
            </a:pPr>
            <a:r>
              <a:rPr sz="1200" b="0" i="0">
                <a:solidFill>
                  <a:srgbClr val="111827"/>
                </a:solidFill>
                <a:latin typeface="Calibri"/>
              </a:rPr>
              <a:t>Iterations: fail-loop → pattern-loop → config</a:t>
            </a:r>
          </a:p>
        </p:txBody>
      </p:sp>
      <p:sp>
        <p:nvSpPr>
          <p:cNvPr id="42" name="Rounded Rectangle 41"/>
          <p:cNvSpPr/>
          <p:nvPr/>
        </p:nvSpPr>
        <p:spPr>
          <a:xfrm>
            <a:off x="8115604" y="4187952"/>
            <a:ext cx="3710330" cy="1225296"/>
          </a:xfrm>
          <a:prstGeom prst="roundRect">
            <a:avLst>
              <a:gd name="adj" fmla="val 8000"/>
            </a:avLst>
          </a:prstGeom>
          <a:solidFill>
            <a:srgbClr val="F9FAFB"/>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298484" y="4297680"/>
            <a:ext cx="3344570" cy="1024128"/>
          </a:xfrm>
          <a:prstGeom prst="rect">
            <a:avLst/>
          </a:prstGeom>
          <a:noFill/>
        </p:spPr>
        <p:txBody>
          <a:bodyPr wrap="square"/>
          <a:lstStyle/>
          <a:p>
            <a:r>
              <a:rPr sz="1000" b="1" i="0" spc="180">
                <a:solidFill>
                  <a:srgbClr val="111827"/>
                </a:solidFill>
                <a:latin typeface="Calibri"/>
              </a:rPr>
              <a:t>TRADEOFFS</a:t>
            </a:r>
          </a:p>
          <a:p>
            <a:pPr>
              <a:spcBef>
                <a:spcPts val="400"/>
              </a:spcBef>
            </a:pPr>
            <a:r>
              <a:rPr sz="1200" b="0" i="0">
                <a:solidFill>
                  <a:srgbClr val="111827"/>
                </a:solidFill>
                <a:latin typeface="Calibri"/>
              </a:rPr>
              <a:t>Full autonomy vs HITL → HITL (law + trust)</a:t>
            </a:r>
          </a:p>
          <a:p>
            <a:pPr>
              <a:spcBef>
                <a:spcPts val="400"/>
              </a:spcBef>
            </a:pPr>
            <a:r>
              <a:rPr sz="1200" b="0" i="0">
                <a:solidFill>
                  <a:srgbClr val="111827"/>
                </a:solidFill>
                <a:latin typeface="Calibri"/>
              </a:rPr>
              <a:t>React to denials vs preempt at intake → preempt</a:t>
            </a:r>
          </a:p>
          <a:p>
            <a:pPr>
              <a:spcBef>
                <a:spcPts val="400"/>
              </a:spcBef>
            </a:pPr>
            <a:r>
              <a:rPr sz="1200" b="0" i="0">
                <a:solidFill>
                  <a:srgbClr val="111827"/>
                </a:solidFill>
                <a:latin typeface="Calibri"/>
              </a:rPr>
              <a:t>All agents vs one payer × CPT → beachhead</a:t>
            </a:r>
          </a:p>
        </p:txBody>
      </p:sp>
      <p:sp>
        <p:nvSpPr>
          <p:cNvPr id="44" name="Rounded Rectangle 43"/>
          <p:cNvSpPr/>
          <p:nvPr/>
        </p:nvSpPr>
        <p:spPr>
          <a:xfrm>
            <a:off x="365760" y="5541264"/>
            <a:ext cx="7818120" cy="713232"/>
          </a:xfrm>
          <a:prstGeom prst="roundRect">
            <a:avLst>
              <a:gd name="adj" fmla="val 8000"/>
            </a:avLst>
          </a:prstGeom>
          <a:solidFill>
            <a:srgbClr val="ECF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66928" y="5632704"/>
            <a:ext cx="7452360" cy="164592"/>
          </a:xfrm>
          <a:prstGeom prst="rect">
            <a:avLst/>
          </a:prstGeom>
          <a:noFill/>
        </p:spPr>
        <p:txBody>
          <a:bodyPr wrap="square"/>
          <a:lstStyle/>
          <a:p>
            <a:pPr algn="l"/>
            <a:r>
              <a:rPr sz="1000" b="1" i="0" spc="180">
                <a:solidFill>
                  <a:srgbClr val="047857"/>
                </a:solidFill>
                <a:latin typeface="Calibri"/>
              </a:rPr>
              <a:t>BET</a:t>
            </a:r>
          </a:p>
        </p:txBody>
      </p:sp>
      <p:sp>
        <p:nvSpPr>
          <p:cNvPr id="46" name="TextBox 45"/>
          <p:cNvSpPr txBox="1"/>
          <p:nvPr/>
        </p:nvSpPr>
        <p:spPr>
          <a:xfrm>
            <a:off x="566928" y="5833872"/>
            <a:ext cx="7452360" cy="329184"/>
          </a:xfrm>
          <a:prstGeom prst="rect">
            <a:avLst/>
          </a:prstGeom>
          <a:noFill/>
        </p:spPr>
        <p:txBody>
          <a:bodyPr wrap="square"/>
          <a:lstStyle/>
          <a:p>
            <a:pPr algn="l"/>
            <a:r>
              <a:rPr sz="1300" b="1" i="0">
                <a:solidFill>
                  <a:srgbClr val="111827"/>
                </a:solidFill>
                <a:latin typeface="Calibri"/>
              </a:rPr>
              <a:t>Execution you have    ·    Decision layer I’d add    ·    GTM: EMR-embedded billing</a:t>
            </a:r>
          </a:p>
        </p:txBody>
      </p:sp>
      <p:sp>
        <p:nvSpPr>
          <p:cNvPr id="47" name="Rounded Rectangle 46"/>
          <p:cNvSpPr/>
          <p:nvPr/>
        </p:nvSpPr>
        <p:spPr>
          <a:xfrm>
            <a:off x="8348472" y="5541264"/>
            <a:ext cx="3477463" cy="713232"/>
          </a:xfrm>
          <a:prstGeom prst="roundRect">
            <a:avLst>
              <a:gd name="adj" fmla="val 8000"/>
            </a:avLst>
          </a:prstGeom>
          <a:solidFill>
            <a:srgbClr val="F9FAFB"/>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513064" y="5632704"/>
            <a:ext cx="3184855" cy="164592"/>
          </a:xfrm>
          <a:prstGeom prst="rect">
            <a:avLst/>
          </a:prstGeom>
          <a:noFill/>
        </p:spPr>
        <p:txBody>
          <a:bodyPr wrap="square"/>
          <a:lstStyle/>
          <a:p>
            <a:pPr algn="l"/>
            <a:r>
              <a:rPr sz="1000" b="1" i="0" spc="180">
                <a:solidFill>
                  <a:srgbClr val="6B7280"/>
                </a:solidFill>
                <a:latin typeface="Calibri"/>
              </a:rPr>
              <a:t>WHY THIS MATTERS</a:t>
            </a:r>
          </a:p>
        </p:txBody>
      </p:sp>
      <p:sp>
        <p:nvSpPr>
          <p:cNvPr id="49" name="TextBox 48"/>
          <p:cNvSpPr txBox="1"/>
          <p:nvPr/>
        </p:nvSpPr>
        <p:spPr>
          <a:xfrm>
            <a:off x="8513064" y="5815584"/>
            <a:ext cx="3184855" cy="365760"/>
          </a:xfrm>
          <a:prstGeom prst="rect">
            <a:avLst/>
          </a:prstGeom>
          <a:noFill/>
        </p:spPr>
        <p:txBody>
          <a:bodyPr wrap="square"/>
          <a:lstStyle/>
          <a:p>
            <a:pPr algn="l"/>
            <a:r>
              <a:rPr sz="1200" b="0" i="0">
                <a:solidFill>
                  <a:srgbClr val="111827"/>
                </a:solidFill>
                <a:latin typeface="Calibri"/>
              </a:rPr>
              <a:t>Touchless flywheel + cost-to-serve on the residual.</a:t>
            </a:r>
          </a:p>
        </p:txBody>
      </p:sp>
      <p:sp>
        <p:nvSpPr>
          <p:cNvPr id="50" name="TextBox 49"/>
          <p:cNvSpPr txBox="1"/>
          <p:nvPr/>
        </p:nvSpPr>
        <p:spPr>
          <a:xfrm>
            <a:off x="365760" y="6565392"/>
            <a:ext cx="7863840" cy="201168"/>
          </a:xfrm>
          <a:prstGeom prst="rect">
            <a:avLst/>
          </a:prstGeom>
          <a:noFill/>
        </p:spPr>
        <p:txBody>
          <a:bodyPr wrap="square"/>
          <a:lstStyle/>
          <a:p>
            <a:pPr algn="l"/>
            <a:r>
              <a:rPr sz="1000" b="0" i="0">
                <a:solidFill>
                  <a:srgbClr val="6B7280"/>
                </a:solidFill>
                <a:latin typeface="Calibri"/>
              </a:rPr>
              <a:t>Healthcare systems fail upstream. I fix input quality instead of scaling downstream ops.    ·    4/6</a:t>
            </a:r>
          </a:p>
        </p:txBody>
      </p:sp>
      <p:sp>
        <p:nvSpPr>
          <p:cNvPr id="51" name="TextBox 50"/>
          <p:cNvSpPr txBox="1"/>
          <p:nvPr/>
        </p:nvSpPr>
        <p:spPr>
          <a:xfrm>
            <a:off x="8321040" y="6565392"/>
            <a:ext cx="3474720" cy="201168"/>
          </a:xfrm>
          <a:prstGeom prst="rect">
            <a:avLst/>
          </a:prstGeom>
          <a:noFill/>
        </p:spPr>
        <p:txBody>
          <a:bodyPr wrap="square"/>
          <a:lstStyle/>
          <a:p>
            <a:pPr algn="r"/>
            <a:r>
              <a:rPr sz="1000" b="0" i="0">
                <a:solidFill>
                  <a:srgbClr val="6B7280"/>
                </a:solidFill>
                <a:latin typeface="Calibri"/>
              </a:rPr>
              <a:t>Scope  Thesis, not a spec · HoP / Product Lead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114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11460175" cy="164592"/>
          </a:xfrm>
          <a:prstGeom prst="rect">
            <a:avLst/>
          </a:prstGeom>
          <a:noFill/>
        </p:spPr>
        <p:txBody>
          <a:bodyPr wrap="square"/>
          <a:lstStyle/>
          <a:p>
            <a:pPr algn="l"/>
            <a:r>
              <a:rPr sz="1000" b="1" i="0" spc="200">
                <a:solidFill>
                  <a:srgbClr val="7C3AED"/>
                </a:solidFill>
                <a:latin typeface="Calibri"/>
              </a:rPr>
              <a:t>5  ·  HOW I USE DATA</a:t>
            </a:r>
          </a:p>
        </p:txBody>
      </p:sp>
      <p:sp>
        <p:nvSpPr>
          <p:cNvPr id="5" name="TextBox 4"/>
          <p:cNvSpPr txBox="1"/>
          <p:nvPr/>
        </p:nvSpPr>
        <p:spPr>
          <a:xfrm>
            <a:off x="365760" y="237744"/>
            <a:ext cx="11460175" cy="310896"/>
          </a:xfrm>
          <a:prstGeom prst="rect">
            <a:avLst/>
          </a:prstGeom>
          <a:noFill/>
        </p:spPr>
        <p:txBody>
          <a:bodyPr wrap="square"/>
          <a:lstStyle/>
          <a:p>
            <a:pPr algn="l"/>
            <a:r>
              <a:rPr sz="2200" b="1" i="0">
                <a:solidFill>
                  <a:srgbClr val="111827"/>
                </a:solidFill>
                <a:latin typeface="Calibri"/>
              </a:rPr>
              <a:t>Data changes the product — it does not decorate the deck</a:t>
            </a:r>
          </a:p>
        </p:txBody>
      </p:sp>
      <p:sp>
        <p:nvSpPr>
          <p:cNvPr id="6" name="TextBox 5"/>
          <p:cNvSpPr txBox="1"/>
          <p:nvPr/>
        </p:nvSpPr>
        <p:spPr>
          <a:xfrm>
            <a:off x="365760" y="530352"/>
            <a:ext cx="11460175" cy="164592"/>
          </a:xfrm>
          <a:prstGeom prst="rect">
            <a:avLst/>
          </a:prstGeom>
          <a:noFill/>
        </p:spPr>
        <p:txBody>
          <a:bodyPr wrap="square"/>
          <a:lstStyle/>
          <a:p>
            <a:r>
              <a:rPr sz="1000" b="1" i="0">
                <a:solidFill>
                  <a:srgbClr val="6B7280"/>
                </a:solidFill>
                <a:latin typeface="Calibri"/>
              </a:rPr>
              <a:t>Method  </a:t>
            </a:r>
            <a:r>
              <a:rPr sz="1000" b="0" i="0">
                <a:solidFill>
                  <a:srgbClr val="6B7280"/>
                </a:solidFill>
                <a:latin typeface="Calibri"/>
              </a:rPr>
              <a:t>Interviews + volume, not dashboards     ·     </a:t>
            </a:r>
            <a:r>
              <a:rPr sz="1000" b="1" i="0">
                <a:solidFill>
                  <a:srgbClr val="6B7280"/>
                </a:solidFill>
                <a:latin typeface="Calibri"/>
              </a:rPr>
              <a:t>Constraint  </a:t>
            </a:r>
            <a:r>
              <a:rPr sz="1000" b="0" i="0">
                <a:solidFill>
                  <a:srgbClr val="6B7280"/>
                </a:solidFill>
                <a:latin typeface="Calibri"/>
              </a:rPr>
              <a:t>PHI, legacy specs, average-user product     ·     </a:t>
            </a:r>
            <a:r>
              <a:rPr sz="1000" b="1" i="0">
                <a:solidFill>
                  <a:srgbClr val="6B7280"/>
                </a:solidFill>
                <a:latin typeface="Calibri"/>
              </a:rPr>
              <a:t>Trigger  </a:t>
            </a:r>
            <a:r>
              <a:rPr sz="1000" b="0" i="0">
                <a:solidFill>
                  <a:srgbClr val="6B7280"/>
                </a:solidFill>
                <a:latin typeface="Calibri"/>
              </a:rPr>
              <a:t>Ops assumed behavior; I used data to kill the wrong product</a:t>
            </a:r>
          </a:p>
        </p:txBody>
      </p:sp>
      <p:sp>
        <p:nvSpPr>
          <p:cNvPr id="7" name="TextBox 6"/>
          <p:cNvSpPr txBox="1"/>
          <p:nvPr/>
        </p:nvSpPr>
        <p:spPr>
          <a:xfrm>
            <a:off x="365760" y="676656"/>
            <a:ext cx="11460175" cy="164592"/>
          </a:xfrm>
          <a:prstGeom prst="rect">
            <a:avLst/>
          </a:prstGeom>
          <a:noFill/>
        </p:spPr>
        <p:txBody>
          <a:bodyPr wrap="square"/>
          <a:lstStyle/>
          <a:p>
            <a:pPr algn="l"/>
            <a:r>
              <a:rPr sz="1100" b="0" i="1">
                <a:solidFill>
                  <a:srgbClr val="6B7280"/>
                </a:solidFill>
                <a:latin typeface="Calibri"/>
              </a:rPr>
              <a:t>Same loop on three problems. Volume finds the constraint. Users kill the form, the average user, and auto-refer.</a:t>
            </a:r>
          </a:p>
        </p:txBody>
      </p:sp>
      <p:sp>
        <p:nvSpPr>
          <p:cNvPr id="8" name="TextBox 7"/>
          <p:cNvSpPr txBox="1"/>
          <p:nvPr/>
        </p:nvSpPr>
        <p:spPr>
          <a:xfrm>
            <a:off x="365760" y="932688"/>
            <a:ext cx="3108960" cy="182880"/>
          </a:xfrm>
          <a:prstGeom prst="rect">
            <a:avLst/>
          </a:prstGeom>
          <a:noFill/>
        </p:spPr>
        <p:txBody>
          <a:bodyPr wrap="square"/>
          <a:lstStyle/>
          <a:p>
            <a:pPr algn="l"/>
            <a:r>
              <a:rPr sz="1000" b="1" i="0" spc="180">
                <a:solidFill>
                  <a:srgbClr val="111827"/>
                </a:solidFill>
                <a:latin typeface="Calibri"/>
              </a:rPr>
              <a:t>LIFECYCLE</a:t>
            </a:r>
          </a:p>
        </p:txBody>
      </p:sp>
      <p:sp>
        <p:nvSpPr>
          <p:cNvPr id="9" name="Rounded Rectangle 8"/>
          <p:cNvSpPr/>
          <p:nvPr/>
        </p:nvSpPr>
        <p:spPr>
          <a:xfrm>
            <a:off x="365760" y="1115568"/>
            <a:ext cx="2087209" cy="402336"/>
          </a:xfrm>
          <a:prstGeom prst="roundRect">
            <a:avLst>
              <a:gd name="adj" fmla="val 8000"/>
            </a:avLst>
          </a:prstGeom>
          <a:solidFill>
            <a:srgbClr val="F9FAFB"/>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0624" y="1170432"/>
            <a:ext cx="1977481" cy="292608"/>
          </a:xfrm>
          <a:prstGeom prst="rect">
            <a:avLst/>
          </a:prstGeom>
          <a:noFill/>
        </p:spPr>
        <p:txBody>
          <a:bodyPr wrap="square"/>
          <a:lstStyle/>
          <a:p>
            <a:pPr algn="ctr"/>
            <a:r>
              <a:rPr sz="1100" b="1" i="0">
                <a:solidFill>
                  <a:srgbClr val="111827"/>
                </a:solidFill>
                <a:latin typeface="Calibri"/>
              </a:rPr>
              <a:t>Discover</a:t>
            </a:r>
          </a:p>
        </p:txBody>
      </p:sp>
      <p:sp>
        <p:nvSpPr>
          <p:cNvPr id="11" name="Right Arrow 10"/>
          <p:cNvSpPr/>
          <p:nvPr/>
        </p:nvSpPr>
        <p:spPr>
          <a:xfrm>
            <a:off x="2489545" y="1252728"/>
            <a:ext cx="182880" cy="128016"/>
          </a:xfrm>
          <a:prstGeom prst="right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709001" y="1115568"/>
            <a:ext cx="2087209" cy="402336"/>
          </a:xfrm>
          <a:prstGeom prst="roundRect">
            <a:avLst>
              <a:gd name="adj" fmla="val 8000"/>
            </a:avLst>
          </a:prstGeom>
          <a:solidFill>
            <a:srgbClr val="F9FAFB"/>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3865" y="1170432"/>
            <a:ext cx="1977481" cy="292608"/>
          </a:xfrm>
          <a:prstGeom prst="rect">
            <a:avLst/>
          </a:prstGeom>
          <a:noFill/>
        </p:spPr>
        <p:txBody>
          <a:bodyPr wrap="square"/>
          <a:lstStyle/>
          <a:p>
            <a:pPr algn="ctr"/>
            <a:r>
              <a:rPr sz="1100" b="1" i="0">
                <a:solidFill>
                  <a:srgbClr val="111827"/>
                </a:solidFill>
                <a:latin typeface="Calibri"/>
              </a:rPr>
              <a:t>Prioritize</a:t>
            </a:r>
          </a:p>
        </p:txBody>
      </p:sp>
      <p:sp>
        <p:nvSpPr>
          <p:cNvPr id="14" name="Right Arrow 13"/>
          <p:cNvSpPr/>
          <p:nvPr/>
        </p:nvSpPr>
        <p:spPr>
          <a:xfrm>
            <a:off x="4832786" y="1252728"/>
            <a:ext cx="182880" cy="128016"/>
          </a:xfrm>
          <a:prstGeom prst="rightArrow">
            <a:avLst/>
          </a:prstGeom>
          <a:solidFill>
            <a:srgbClr val="047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052242" y="1115568"/>
            <a:ext cx="2087209" cy="402336"/>
          </a:xfrm>
          <a:prstGeom prst="roundRect">
            <a:avLst>
              <a:gd name="adj" fmla="val 8000"/>
            </a:avLst>
          </a:prstGeom>
          <a:solidFill>
            <a:srgbClr val="ECFDF5"/>
          </a:solidFill>
          <a:ln w="12700">
            <a:solidFill>
              <a:srgbClr val="ECFD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07106" y="1170432"/>
            <a:ext cx="1977481" cy="292608"/>
          </a:xfrm>
          <a:prstGeom prst="rect">
            <a:avLst/>
          </a:prstGeom>
          <a:noFill/>
        </p:spPr>
        <p:txBody>
          <a:bodyPr wrap="square"/>
          <a:lstStyle/>
          <a:p>
            <a:pPr algn="ctr"/>
            <a:r>
              <a:rPr sz="1100" b="1" i="0">
                <a:solidFill>
                  <a:srgbClr val="047857"/>
                </a:solidFill>
                <a:latin typeface="Calibri"/>
              </a:rPr>
              <a:t>Decide</a:t>
            </a:r>
          </a:p>
        </p:txBody>
      </p:sp>
      <p:sp>
        <p:nvSpPr>
          <p:cNvPr id="17" name="Right Arrow 16"/>
          <p:cNvSpPr/>
          <p:nvPr/>
        </p:nvSpPr>
        <p:spPr>
          <a:xfrm>
            <a:off x="7176028" y="1252728"/>
            <a:ext cx="182880" cy="128016"/>
          </a:xfrm>
          <a:prstGeom prst="rightArrow">
            <a:avLst/>
          </a:prstGeom>
          <a:solidFill>
            <a:srgbClr val="047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395484" y="1115568"/>
            <a:ext cx="2087209" cy="402336"/>
          </a:xfrm>
          <a:prstGeom prst="roundRect">
            <a:avLst>
              <a:gd name="adj" fmla="val 8000"/>
            </a:avLst>
          </a:prstGeom>
          <a:solidFill>
            <a:srgbClr val="FEF2F2"/>
          </a:solidFill>
          <a:ln w="12700">
            <a:solidFill>
              <a:srgbClr val="FE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50348" y="1170432"/>
            <a:ext cx="1977481" cy="292608"/>
          </a:xfrm>
          <a:prstGeom prst="rect">
            <a:avLst/>
          </a:prstGeom>
          <a:noFill/>
        </p:spPr>
        <p:txBody>
          <a:bodyPr wrap="square"/>
          <a:lstStyle/>
          <a:p>
            <a:pPr algn="ctr"/>
            <a:r>
              <a:rPr sz="1100" b="1" i="0">
                <a:solidFill>
                  <a:srgbClr val="B91C1C"/>
                </a:solidFill>
                <a:latin typeface="Calibri"/>
              </a:rPr>
              <a:t>Launch / learn</a:t>
            </a:r>
          </a:p>
        </p:txBody>
      </p:sp>
      <p:sp>
        <p:nvSpPr>
          <p:cNvPr id="20" name="Right Arrow 19"/>
          <p:cNvSpPr/>
          <p:nvPr/>
        </p:nvSpPr>
        <p:spPr>
          <a:xfrm>
            <a:off x="9519269" y="1252728"/>
            <a:ext cx="182880" cy="128016"/>
          </a:xfrm>
          <a:prstGeom prst="rightArrow">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738725" y="1115568"/>
            <a:ext cx="2087209" cy="402336"/>
          </a:xfrm>
          <a:prstGeom prst="roundRect">
            <a:avLst>
              <a:gd name="adj" fmla="val 8000"/>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793589" y="1170432"/>
            <a:ext cx="1977481" cy="292608"/>
          </a:xfrm>
          <a:prstGeom prst="rect">
            <a:avLst/>
          </a:prstGeom>
          <a:noFill/>
        </p:spPr>
        <p:txBody>
          <a:bodyPr wrap="square"/>
          <a:lstStyle/>
          <a:p>
            <a:pPr algn="ctr"/>
            <a:r>
              <a:rPr sz="1100" b="1" i="0">
                <a:solidFill>
                  <a:srgbClr val="6B7280"/>
                </a:solidFill>
                <a:latin typeface="Calibri"/>
              </a:rPr>
              <a:t>Outcome</a:t>
            </a:r>
          </a:p>
        </p:txBody>
      </p:sp>
      <p:sp>
        <p:nvSpPr>
          <p:cNvPr id="23" name="Rounded Rectangle 22"/>
          <p:cNvSpPr/>
          <p:nvPr/>
        </p:nvSpPr>
        <p:spPr>
          <a:xfrm>
            <a:off x="365760" y="1645920"/>
            <a:ext cx="11460175" cy="384048"/>
          </a:xfrm>
          <a:prstGeom prst="roundRect">
            <a:avLst>
              <a:gd name="adj" fmla="val 8000"/>
            </a:avLst>
          </a:prstGeom>
          <a:solidFill>
            <a:srgbClr val="F5F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66928" y="1719072"/>
            <a:ext cx="11057839" cy="256032"/>
          </a:xfrm>
          <a:prstGeom prst="rect">
            <a:avLst/>
          </a:prstGeom>
          <a:noFill/>
        </p:spPr>
        <p:txBody>
          <a:bodyPr wrap="square"/>
          <a:lstStyle/>
          <a:p>
            <a:pPr algn="l"/>
            <a:r>
              <a:rPr sz="1400" b="1" i="0">
                <a:solidFill>
                  <a:srgbClr val="7C3AED"/>
                </a:solidFill>
                <a:latin typeface="Calibri"/>
              </a:rPr>
              <a:t>Volume finds where it breaks. Interviews kill the wrong product. Launch data kills the wrong success metric.</a:t>
            </a:r>
          </a:p>
        </p:txBody>
      </p:sp>
      <p:sp>
        <p:nvSpPr>
          <p:cNvPr id="25" name="TextBox 24"/>
          <p:cNvSpPr txBox="1"/>
          <p:nvPr/>
        </p:nvSpPr>
        <p:spPr>
          <a:xfrm>
            <a:off x="1243584" y="2139696"/>
            <a:ext cx="2057948" cy="164592"/>
          </a:xfrm>
          <a:prstGeom prst="rect">
            <a:avLst/>
          </a:prstGeom>
          <a:noFill/>
        </p:spPr>
        <p:txBody>
          <a:bodyPr wrap="square"/>
          <a:lstStyle/>
          <a:p>
            <a:pPr algn="ctr"/>
            <a:r>
              <a:rPr sz="1000" b="1" i="0" spc="180">
                <a:solidFill>
                  <a:srgbClr val="6B7280"/>
                </a:solidFill>
                <a:latin typeface="Calibri"/>
              </a:rPr>
              <a:t>DISCOVER</a:t>
            </a:r>
          </a:p>
        </p:txBody>
      </p:sp>
      <p:sp>
        <p:nvSpPr>
          <p:cNvPr id="26" name="TextBox 25"/>
          <p:cNvSpPr txBox="1"/>
          <p:nvPr/>
        </p:nvSpPr>
        <p:spPr>
          <a:xfrm>
            <a:off x="3374684" y="2139696"/>
            <a:ext cx="2057948" cy="164592"/>
          </a:xfrm>
          <a:prstGeom prst="rect">
            <a:avLst/>
          </a:prstGeom>
          <a:noFill/>
        </p:spPr>
        <p:txBody>
          <a:bodyPr wrap="square"/>
          <a:lstStyle/>
          <a:p>
            <a:pPr algn="ctr"/>
            <a:r>
              <a:rPr sz="1000" b="1" i="0" spc="180">
                <a:solidFill>
                  <a:srgbClr val="6B7280"/>
                </a:solidFill>
                <a:latin typeface="Calibri"/>
              </a:rPr>
              <a:t>PRIORITIZE</a:t>
            </a:r>
          </a:p>
        </p:txBody>
      </p:sp>
      <p:sp>
        <p:nvSpPr>
          <p:cNvPr id="27" name="TextBox 26"/>
          <p:cNvSpPr txBox="1"/>
          <p:nvPr/>
        </p:nvSpPr>
        <p:spPr>
          <a:xfrm>
            <a:off x="5505785" y="2139696"/>
            <a:ext cx="2057948" cy="164592"/>
          </a:xfrm>
          <a:prstGeom prst="rect">
            <a:avLst/>
          </a:prstGeom>
          <a:noFill/>
        </p:spPr>
        <p:txBody>
          <a:bodyPr wrap="square"/>
          <a:lstStyle/>
          <a:p>
            <a:pPr algn="ctr"/>
            <a:r>
              <a:rPr sz="1000" b="1" i="0" spc="180">
                <a:solidFill>
                  <a:srgbClr val="6B7280"/>
                </a:solidFill>
                <a:latin typeface="Calibri"/>
              </a:rPr>
              <a:t>DECIDE</a:t>
            </a:r>
          </a:p>
        </p:txBody>
      </p:sp>
      <p:sp>
        <p:nvSpPr>
          <p:cNvPr id="28" name="TextBox 27"/>
          <p:cNvSpPr txBox="1"/>
          <p:nvPr/>
        </p:nvSpPr>
        <p:spPr>
          <a:xfrm>
            <a:off x="7636885" y="2139696"/>
            <a:ext cx="2057948" cy="164592"/>
          </a:xfrm>
          <a:prstGeom prst="rect">
            <a:avLst/>
          </a:prstGeom>
          <a:noFill/>
        </p:spPr>
        <p:txBody>
          <a:bodyPr wrap="square"/>
          <a:lstStyle/>
          <a:p>
            <a:pPr algn="ctr"/>
            <a:r>
              <a:rPr sz="1000" b="1" i="0" spc="180">
                <a:solidFill>
                  <a:srgbClr val="6B7280"/>
                </a:solidFill>
                <a:latin typeface="Calibri"/>
              </a:rPr>
              <a:t>LAUNCH / LEARN</a:t>
            </a:r>
          </a:p>
        </p:txBody>
      </p:sp>
      <p:sp>
        <p:nvSpPr>
          <p:cNvPr id="29" name="TextBox 28"/>
          <p:cNvSpPr txBox="1"/>
          <p:nvPr/>
        </p:nvSpPr>
        <p:spPr>
          <a:xfrm>
            <a:off x="9767986" y="2139696"/>
            <a:ext cx="2057948" cy="164592"/>
          </a:xfrm>
          <a:prstGeom prst="rect">
            <a:avLst/>
          </a:prstGeom>
          <a:noFill/>
        </p:spPr>
        <p:txBody>
          <a:bodyPr wrap="square"/>
          <a:lstStyle/>
          <a:p>
            <a:pPr algn="ctr"/>
            <a:r>
              <a:rPr sz="1000" b="1" i="0" spc="180">
                <a:solidFill>
                  <a:srgbClr val="6B7280"/>
                </a:solidFill>
                <a:latin typeface="Calibri"/>
              </a:rPr>
              <a:t>OUTCOME</a:t>
            </a:r>
          </a:p>
        </p:txBody>
      </p:sp>
      <p:sp>
        <p:nvSpPr>
          <p:cNvPr id="30" name="Rounded Rectangle 29"/>
          <p:cNvSpPr/>
          <p:nvPr/>
        </p:nvSpPr>
        <p:spPr>
          <a:xfrm>
            <a:off x="365760" y="2322576"/>
            <a:ext cx="804672" cy="987552"/>
          </a:xfrm>
          <a:prstGeom prst="roundRect">
            <a:avLst>
              <a:gd name="adj" fmla="val 8000"/>
            </a:avLst>
          </a:prstGeom>
          <a:solidFill>
            <a:srgbClr val="F9FAFB"/>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65760" y="2724912"/>
            <a:ext cx="804672" cy="182880"/>
          </a:xfrm>
          <a:prstGeom prst="rect">
            <a:avLst/>
          </a:prstGeom>
          <a:noFill/>
        </p:spPr>
        <p:txBody>
          <a:bodyPr wrap="square"/>
          <a:lstStyle/>
          <a:p>
            <a:pPr algn="ctr"/>
            <a:r>
              <a:rPr sz="1200" b="1" i="0">
                <a:solidFill>
                  <a:srgbClr val="7C3AED"/>
                </a:solidFill>
                <a:latin typeface="Calibri"/>
              </a:rPr>
              <a:t>PIS</a:t>
            </a:r>
          </a:p>
        </p:txBody>
      </p:sp>
      <p:sp>
        <p:nvSpPr>
          <p:cNvPr id="32" name="Rounded Rectangle 31"/>
          <p:cNvSpPr/>
          <p:nvPr/>
        </p:nvSpPr>
        <p:spPr>
          <a:xfrm>
            <a:off x="1243584" y="2322576"/>
            <a:ext cx="2057948" cy="987552"/>
          </a:xfrm>
          <a:prstGeom prst="roundRect">
            <a:avLst>
              <a:gd name="adj" fmla="val 8000"/>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316736" y="2395728"/>
            <a:ext cx="1911644" cy="859536"/>
          </a:xfrm>
          <a:prstGeom prst="rect">
            <a:avLst/>
          </a:prstGeom>
          <a:noFill/>
        </p:spPr>
        <p:txBody>
          <a:bodyPr wrap="square"/>
          <a:lstStyle/>
          <a:p>
            <a:pPr algn="l"/>
            <a:r>
              <a:rPr sz="1100" b="0" i="0">
                <a:solidFill>
                  <a:srgbClr val="111827"/>
                </a:solidFill>
                <a:latin typeface="Calibri"/>
              </a:rPr>
              <a:t>3.7M lines · 25 orgs = 50% paper · $500K · 60% denials</a:t>
            </a:r>
          </a:p>
        </p:txBody>
      </p:sp>
      <p:sp>
        <p:nvSpPr>
          <p:cNvPr id="34" name="Rounded Rectangle 33"/>
          <p:cNvSpPr/>
          <p:nvPr/>
        </p:nvSpPr>
        <p:spPr>
          <a:xfrm>
            <a:off x="3374684" y="2322576"/>
            <a:ext cx="2057948" cy="987552"/>
          </a:xfrm>
          <a:prstGeom prst="roundRect">
            <a:avLst>
              <a:gd name="adj" fmla="val 8000"/>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447836" y="2395728"/>
            <a:ext cx="1911644" cy="859536"/>
          </a:xfrm>
          <a:prstGeom prst="rect">
            <a:avLst/>
          </a:prstGeom>
          <a:noFill/>
        </p:spPr>
        <p:txBody>
          <a:bodyPr wrap="square"/>
          <a:lstStyle/>
          <a:p>
            <a:pPr algn="l"/>
            <a:r>
              <a:rPr sz="1100" b="0" i="0">
                <a:solidFill>
                  <a:srgbClr val="111827"/>
                </a:solidFill>
                <a:latin typeface="Calibri"/>
              </a:rPr>
              <a:t>25 similar-workflow first · product fit 20–30 vs ~1000 lines</a:t>
            </a:r>
          </a:p>
        </p:txBody>
      </p:sp>
      <p:sp>
        <p:nvSpPr>
          <p:cNvPr id="36" name="Rounded Rectangle 35"/>
          <p:cNvSpPr/>
          <p:nvPr/>
        </p:nvSpPr>
        <p:spPr>
          <a:xfrm>
            <a:off x="5505785" y="2322576"/>
            <a:ext cx="2057948" cy="987552"/>
          </a:xfrm>
          <a:prstGeom prst="roundRect">
            <a:avLst>
              <a:gd name="adj" fmla="val 8000"/>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578937" y="2395728"/>
            <a:ext cx="1911644" cy="859536"/>
          </a:xfrm>
          <a:prstGeom prst="rect">
            <a:avLst/>
          </a:prstGeom>
          <a:noFill/>
        </p:spPr>
        <p:txBody>
          <a:bodyPr wrap="square"/>
          <a:lstStyle/>
          <a:p>
            <a:pPr algn="l"/>
            <a:r>
              <a:rPr sz="1100" b="0" i="0">
                <a:solidFill>
                  <a:srgbClr val="111827"/>
                </a:solidFill>
                <a:latin typeface="Calibri"/>
              </a:rPr>
              <a:t>Architecture, not training · 32-line → 1000–2000</a:t>
            </a:r>
          </a:p>
        </p:txBody>
      </p:sp>
      <p:sp>
        <p:nvSpPr>
          <p:cNvPr id="38" name="Rounded Rectangle 37"/>
          <p:cNvSpPr/>
          <p:nvPr/>
        </p:nvSpPr>
        <p:spPr>
          <a:xfrm>
            <a:off x="7636885" y="2322576"/>
            <a:ext cx="2057948" cy="987552"/>
          </a:xfrm>
          <a:prstGeom prst="roundRect">
            <a:avLst>
              <a:gd name="adj" fmla="val 8000"/>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710037" y="2395728"/>
            <a:ext cx="1911644" cy="859536"/>
          </a:xfrm>
          <a:prstGeom prst="rect">
            <a:avLst/>
          </a:prstGeom>
          <a:noFill/>
        </p:spPr>
        <p:txBody>
          <a:bodyPr wrap="square"/>
          <a:lstStyle/>
          <a:p>
            <a:pPr algn="l"/>
            <a:r>
              <a:rPr sz="1100" b="0" i="0">
                <a:solidFill>
                  <a:srgbClr val="111827"/>
                </a:solidFill>
                <a:latin typeface="Calibri"/>
              </a:rPr>
              <a:t>10-name dark too slow · capacity ≠ responsiveness · dual-run</a:t>
            </a:r>
          </a:p>
        </p:txBody>
      </p:sp>
      <p:sp>
        <p:nvSpPr>
          <p:cNvPr id="40" name="Rounded Rectangle 39"/>
          <p:cNvSpPr/>
          <p:nvPr/>
        </p:nvSpPr>
        <p:spPr>
          <a:xfrm>
            <a:off x="9767986" y="2322576"/>
            <a:ext cx="2057948" cy="987552"/>
          </a:xfrm>
          <a:prstGeom prst="roundRect">
            <a:avLst>
              <a:gd name="adj" fmla="val 8000"/>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841138" y="2395728"/>
            <a:ext cx="1911644" cy="859536"/>
          </a:xfrm>
          <a:prstGeom prst="rect">
            <a:avLst/>
          </a:prstGeom>
          <a:noFill/>
        </p:spPr>
        <p:txBody>
          <a:bodyPr wrap="square"/>
          <a:lstStyle/>
          <a:p>
            <a:pPr algn="l"/>
            <a:r>
              <a:rPr sz="1100" b="0" i="0">
                <a:solidFill>
                  <a:srgbClr val="111827"/>
                </a:solidFill>
                <a:latin typeface="Calibri"/>
              </a:rPr>
              <a:t>Invalid −40% · adoption +60% · $200K · no post-denial %</a:t>
            </a:r>
          </a:p>
        </p:txBody>
      </p:sp>
      <p:sp>
        <p:nvSpPr>
          <p:cNvPr id="42" name="Rounded Rectangle 41"/>
          <p:cNvSpPr/>
          <p:nvPr/>
        </p:nvSpPr>
        <p:spPr>
          <a:xfrm>
            <a:off x="365760" y="3383280"/>
            <a:ext cx="804672" cy="987552"/>
          </a:xfrm>
          <a:prstGeom prst="roundRect">
            <a:avLst>
              <a:gd name="adj" fmla="val 8000"/>
            </a:avLst>
          </a:prstGeom>
          <a:solidFill>
            <a:srgbClr val="F9FAFB"/>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65760" y="3785616"/>
            <a:ext cx="804672" cy="182880"/>
          </a:xfrm>
          <a:prstGeom prst="rect">
            <a:avLst/>
          </a:prstGeom>
          <a:noFill/>
        </p:spPr>
        <p:txBody>
          <a:bodyPr wrap="square"/>
          <a:lstStyle/>
          <a:p>
            <a:pPr algn="ctr"/>
            <a:r>
              <a:rPr sz="1200" b="1" i="0">
                <a:solidFill>
                  <a:srgbClr val="111827"/>
                </a:solidFill>
                <a:latin typeface="Calibri"/>
              </a:rPr>
              <a:t>InfoX</a:t>
            </a:r>
          </a:p>
        </p:txBody>
      </p:sp>
      <p:sp>
        <p:nvSpPr>
          <p:cNvPr id="44" name="Rounded Rectangle 43"/>
          <p:cNvSpPr/>
          <p:nvPr/>
        </p:nvSpPr>
        <p:spPr>
          <a:xfrm>
            <a:off x="1243584" y="3383280"/>
            <a:ext cx="2057948" cy="987552"/>
          </a:xfrm>
          <a:prstGeom prst="roundRect">
            <a:avLst>
              <a:gd name="adj" fmla="val 8000"/>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316736" y="3456432"/>
            <a:ext cx="1911644" cy="859536"/>
          </a:xfrm>
          <a:prstGeom prst="rect">
            <a:avLst/>
          </a:prstGeom>
          <a:noFill/>
        </p:spPr>
        <p:txBody>
          <a:bodyPr wrap="square"/>
          <a:lstStyle/>
          <a:p>
            <a:pPr algn="l"/>
            <a:r>
              <a:rPr sz="1100" b="0" i="0">
                <a:solidFill>
                  <a:srgbClr val="111827"/>
                </a:solidFill>
                <a:latin typeface="Calibri"/>
              </a:rPr>
              <a:t>52K faxes · ~$250K re-key · 28M keystrokes · 15 GPs + advisors</a:t>
            </a:r>
          </a:p>
        </p:txBody>
      </p:sp>
      <p:sp>
        <p:nvSpPr>
          <p:cNvPr id="46" name="Rounded Rectangle 45"/>
          <p:cNvSpPr/>
          <p:nvPr/>
        </p:nvSpPr>
        <p:spPr>
          <a:xfrm>
            <a:off x="3374684" y="3383280"/>
            <a:ext cx="2057948" cy="987552"/>
          </a:xfrm>
          <a:prstGeom prst="roundRect">
            <a:avLst>
              <a:gd name="adj" fmla="val 8000"/>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447836" y="3456432"/>
            <a:ext cx="1911644" cy="859536"/>
          </a:xfrm>
          <a:prstGeom prst="rect">
            <a:avLst/>
          </a:prstGeom>
          <a:noFill/>
        </p:spPr>
        <p:txBody>
          <a:bodyPr wrap="square"/>
          <a:lstStyle/>
          <a:p>
            <a:pPr algn="l"/>
            <a:r>
              <a:rPr sz="1100" b="0" i="0">
                <a:solidFill>
                  <a:srgbClr val="111827"/>
                </a:solidFill>
                <a:latin typeface="Calibri"/>
              </a:rPr>
              <a:t>Form 8/11 first (highest-volume clinical) · $80K POC</a:t>
            </a:r>
          </a:p>
        </p:txBody>
      </p:sp>
      <p:sp>
        <p:nvSpPr>
          <p:cNvPr id="48" name="Rounded Rectangle 47"/>
          <p:cNvSpPr/>
          <p:nvPr/>
        </p:nvSpPr>
        <p:spPr>
          <a:xfrm>
            <a:off x="5505785" y="3383280"/>
            <a:ext cx="2057948" cy="987552"/>
          </a:xfrm>
          <a:prstGeom prst="roundRect">
            <a:avLst>
              <a:gd name="adj" fmla="val 8000"/>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578937" y="3456432"/>
            <a:ext cx="1911644" cy="859536"/>
          </a:xfrm>
          <a:prstGeom prst="rect">
            <a:avLst/>
          </a:prstGeom>
          <a:noFill/>
        </p:spPr>
        <p:txBody>
          <a:bodyPr wrap="square"/>
          <a:lstStyle/>
          <a:p>
            <a:pPr algn="l"/>
            <a:r>
              <a:rPr sz="1100" b="0" i="0">
                <a:solidFill>
                  <a:srgbClr val="111827"/>
                </a:solidFill>
                <a:latin typeface="Calibri"/>
              </a:rPr>
              <a:t>GPs will not leave EMR · split clinical off Teleplan · JSON not FHIR</a:t>
            </a:r>
          </a:p>
        </p:txBody>
      </p:sp>
      <p:sp>
        <p:nvSpPr>
          <p:cNvPr id="50" name="Rounded Rectangle 49"/>
          <p:cNvSpPr/>
          <p:nvPr/>
        </p:nvSpPr>
        <p:spPr>
          <a:xfrm>
            <a:off x="7636885" y="3383280"/>
            <a:ext cx="2057948" cy="987552"/>
          </a:xfrm>
          <a:prstGeom prst="roundRect">
            <a:avLst>
              <a:gd name="adj" fmla="val 8000"/>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710037" y="3456432"/>
            <a:ext cx="1911644" cy="859536"/>
          </a:xfrm>
          <a:prstGeom prst="rect">
            <a:avLst/>
          </a:prstGeom>
          <a:noFill/>
        </p:spPr>
        <p:txBody>
          <a:bodyPr wrap="square"/>
          <a:lstStyle/>
          <a:p>
            <a:pPr algn="l"/>
            <a:r>
              <a:rPr sz="1100" b="0" i="0">
                <a:solidFill>
                  <a:srgbClr val="111827"/>
                </a:solidFill>
                <a:latin typeface="Calibri"/>
              </a:rPr>
              <a:t>InnoFest loss · 27 Mar 2025 POC · F8 not live</a:t>
            </a:r>
          </a:p>
        </p:txBody>
      </p:sp>
      <p:sp>
        <p:nvSpPr>
          <p:cNvPr id="52" name="Rounded Rectangle 51"/>
          <p:cNvSpPr/>
          <p:nvPr/>
        </p:nvSpPr>
        <p:spPr>
          <a:xfrm>
            <a:off x="9767986" y="3383280"/>
            <a:ext cx="2057948" cy="987552"/>
          </a:xfrm>
          <a:prstGeom prst="roundRect">
            <a:avLst>
              <a:gd name="adj" fmla="val 8000"/>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841138" y="3456432"/>
            <a:ext cx="1911644" cy="859536"/>
          </a:xfrm>
          <a:prstGeom prst="rect">
            <a:avLst/>
          </a:prstGeom>
          <a:noFill/>
        </p:spPr>
        <p:txBody>
          <a:bodyPr wrap="square"/>
          <a:lstStyle/>
          <a:p>
            <a:pPr algn="l"/>
            <a:r>
              <a:rPr sz="1100" b="0" i="0">
                <a:solidFill>
                  <a:srgbClr val="111827"/>
                </a:solidFill>
                <a:latin typeface="Calibri"/>
              </a:rPr>
              <a:t>Channel validated · GPs stay in EMR · not a fax-% claim</a:t>
            </a:r>
          </a:p>
        </p:txBody>
      </p:sp>
      <p:sp>
        <p:nvSpPr>
          <p:cNvPr id="54" name="Rounded Rectangle 53"/>
          <p:cNvSpPr/>
          <p:nvPr/>
        </p:nvSpPr>
        <p:spPr>
          <a:xfrm>
            <a:off x="365760" y="4443984"/>
            <a:ext cx="804672" cy="987552"/>
          </a:xfrm>
          <a:prstGeom prst="roundRect">
            <a:avLst>
              <a:gd name="adj" fmla="val 8000"/>
            </a:avLst>
          </a:prstGeom>
          <a:solidFill>
            <a:srgbClr val="F9FAFB"/>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65760" y="4846320"/>
            <a:ext cx="804672" cy="182880"/>
          </a:xfrm>
          <a:prstGeom prst="rect">
            <a:avLst/>
          </a:prstGeom>
          <a:noFill/>
        </p:spPr>
        <p:txBody>
          <a:bodyPr wrap="square"/>
          <a:lstStyle/>
          <a:p>
            <a:pPr algn="ctr"/>
            <a:r>
              <a:rPr sz="1200" b="1" i="0">
                <a:solidFill>
                  <a:srgbClr val="047857"/>
                </a:solidFill>
                <a:latin typeface="Calibri"/>
              </a:rPr>
              <a:t>Radar</a:t>
            </a:r>
          </a:p>
        </p:txBody>
      </p:sp>
      <p:sp>
        <p:nvSpPr>
          <p:cNvPr id="56" name="Rounded Rectangle 55"/>
          <p:cNvSpPr/>
          <p:nvPr/>
        </p:nvSpPr>
        <p:spPr>
          <a:xfrm>
            <a:off x="1243584" y="4443984"/>
            <a:ext cx="2057948" cy="987552"/>
          </a:xfrm>
          <a:prstGeom prst="roundRect">
            <a:avLst>
              <a:gd name="adj" fmla="val 8000"/>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316736" y="4517136"/>
            <a:ext cx="1911644" cy="859536"/>
          </a:xfrm>
          <a:prstGeom prst="rect">
            <a:avLst/>
          </a:prstGeom>
          <a:noFill/>
        </p:spPr>
        <p:txBody>
          <a:bodyPr wrap="square"/>
          <a:lstStyle/>
          <a:p>
            <a:pPr algn="l"/>
            <a:r>
              <a:rPr sz="1100" b="0" i="0">
                <a:solidFill>
                  <a:srgbClr val="111827"/>
                </a:solidFill>
                <a:latin typeface="Calibri"/>
              </a:rPr>
              <a:t>20–75 docs · 90+ min SME (not an ops extract) · finding, not judging</a:t>
            </a:r>
          </a:p>
        </p:txBody>
      </p:sp>
      <p:sp>
        <p:nvSpPr>
          <p:cNvPr id="58" name="Rounded Rectangle 57"/>
          <p:cNvSpPr/>
          <p:nvPr/>
        </p:nvSpPr>
        <p:spPr>
          <a:xfrm>
            <a:off x="3374684" y="4443984"/>
            <a:ext cx="2057948" cy="987552"/>
          </a:xfrm>
          <a:prstGeom prst="roundRect">
            <a:avLst>
              <a:gd name="adj" fmla="val 8000"/>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3447836" y="4517136"/>
            <a:ext cx="1911644" cy="859536"/>
          </a:xfrm>
          <a:prstGeom prst="rect">
            <a:avLst/>
          </a:prstGeom>
          <a:noFill/>
        </p:spPr>
        <p:txBody>
          <a:bodyPr wrap="square"/>
          <a:lstStyle/>
          <a:p>
            <a:pPr algn="l"/>
            <a:r>
              <a:rPr sz="1100" b="0" i="0">
                <a:solidFill>
                  <a:srgbClr val="111827"/>
                </a:solidFill>
                <a:latin typeface="Calibri"/>
              </a:rPr>
              <a:t>Explainability over a ranked score · 2nd of 36</a:t>
            </a:r>
          </a:p>
        </p:txBody>
      </p:sp>
      <p:sp>
        <p:nvSpPr>
          <p:cNvPr id="60" name="Rounded Rectangle 59"/>
          <p:cNvSpPr/>
          <p:nvPr/>
        </p:nvSpPr>
        <p:spPr>
          <a:xfrm>
            <a:off x="5505785" y="4443984"/>
            <a:ext cx="2057948" cy="987552"/>
          </a:xfrm>
          <a:prstGeom prst="roundRect">
            <a:avLst>
              <a:gd name="adj" fmla="val 8000"/>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578937" y="4517136"/>
            <a:ext cx="1911644" cy="859536"/>
          </a:xfrm>
          <a:prstGeom prst="rect">
            <a:avLst/>
          </a:prstGeom>
          <a:noFill/>
        </p:spPr>
        <p:txBody>
          <a:bodyPr wrap="square"/>
          <a:lstStyle/>
          <a:p>
            <a:pPr algn="l"/>
            <a:r>
              <a:rPr sz="1100" b="0" i="0">
                <a:solidFill>
                  <a:srgbClr val="111827"/>
                </a:solidFill>
                <a:latin typeface="Calibri"/>
              </a:rPr>
              <a:t>Evidence trace · human-in-loop · mind map not list</a:t>
            </a:r>
          </a:p>
        </p:txBody>
      </p:sp>
      <p:sp>
        <p:nvSpPr>
          <p:cNvPr id="62" name="Rounded Rectangle 61"/>
          <p:cNvSpPr/>
          <p:nvPr/>
        </p:nvSpPr>
        <p:spPr>
          <a:xfrm>
            <a:off x="7636885" y="4443984"/>
            <a:ext cx="2057948" cy="987552"/>
          </a:xfrm>
          <a:prstGeom prst="roundRect">
            <a:avLst>
              <a:gd name="adj" fmla="val 8000"/>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7710037" y="4517136"/>
            <a:ext cx="1911644" cy="859536"/>
          </a:xfrm>
          <a:prstGeom prst="rect">
            <a:avLst/>
          </a:prstGeom>
          <a:noFill/>
        </p:spPr>
        <p:txBody>
          <a:bodyPr wrap="square"/>
          <a:lstStyle/>
          <a:p>
            <a:pPr algn="l"/>
            <a:r>
              <a:rPr sz="1100" b="0" i="0">
                <a:solidFill>
                  <a:srgbClr val="111827"/>
                </a:solidFill>
                <a:latin typeface="Calibri"/>
              </a:rPr>
              <a:t>No production PHI · synthetic + CM validate · 2-week prototype</a:t>
            </a:r>
          </a:p>
        </p:txBody>
      </p:sp>
      <p:sp>
        <p:nvSpPr>
          <p:cNvPr id="64" name="Rounded Rectangle 63"/>
          <p:cNvSpPr/>
          <p:nvPr/>
        </p:nvSpPr>
        <p:spPr>
          <a:xfrm>
            <a:off x="9767986" y="4443984"/>
            <a:ext cx="2057948" cy="987552"/>
          </a:xfrm>
          <a:prstGeom prst="roundRect">
            <a:avLst>
              <a:gd name="adj" fmla="val 8000"/>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841138" y="4517136"/>
            <a:ext cx="1911644" cy="859536"/>
          </a:xfrm>
          <a:prstGeom prst="rect">
            <a:avLst/>
          </a:prstGeom>
          <a:noFill/>
        </p:spPr>
        <p:txBody>
          <a:bodyPr wrap="square"/>
          <a:lstStyle/>
          <a:p>
            <a:pPr algn="l"/>
            <a:r>
              <a:rPr sz="1100" b="0" i="0">
                <a:solidFill>
                  <a:srgbClr val="111827"/>
                </a:solidFill>
                <a:latin typeface="Calibri"/>
              </a:rPr>
              <a:t>Evidence to CM, not a score · no minutes-saved · not production</a:t>
            </a:r>
          </a:p>
        </p:txBody>
      </p:sp>
      <p:sp>
        <p:nvSpPr>
          <p:cNvPr id="66" name="Rounded Rectangle 65"/>
          <p:cNvSpPr/>
          <p:nvPr/>
        </p:nvSpPr>
        <p:spPr>
          <a:xfrm>
            <a:off x="365760" y="5541264"/>
            <a:ext cx="7818120" cy="713232"/>
          </a:xfrm>
          <a:prstGeom prst="roundRect">
            <a:avLst>
              <a:gd name="adj" fmla="val 8000"/>
            </a:avLst>
          </a:prstGeom>
          <a:solidFill>
            <a:srgbClr val="ECF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566928" y="5632704"/>
            <a:ext cx="7452360" cy="164592"/>
          </a:xfrm>
          <a:prstGeom prst="rect">
            <a:avLst/>
          </a:prstGeom>
          <a:noFill/>
        </p:spPr>
        <p:txBody>
          <a:bodyPr wrap="square"/>
          <a:lstStyle/>
          <a:p>
            <a:pPr algn="l"/>
            <a:r>
              <a:rPr sz="1000" b="1" i="0" spc="180">
                <a:solidFill>
                  <a:srgbClr val="047857"/>
                </a:solidFill>
                <a:latin typeface="Calibri"/>
              </a:rPr>
              <a:t>OUTCOME</a:t>
            </a:r>
          </a:p>
        </p:txBody>
      </p:sp>
      <p:sp>
        <p:nvSpPr>
          <p:cNvPr id="68" name="TextBox 67"/>
          <p:cNvSpPr txBox="1"/>
          <p:nvPr/>
        </p:nvSpPr>
        <p:spPr>
          <a:xfrm>
            <a:off x="566928" y="5833872"/>
            <a:ext cx="7452360" cy="329184"/>
          </a:xfrm>
          <a:prstGeom prst="rect">
            <a:avLst/>
          </a:prstGeom>
          <a:noFill/>
        </p:spPr>
        <p:txBody>
          <a:bodyPr wrap="square"/>
          <a:lstStyle/>
          <a:p>
            <a:pPr algn="l"/>
            <a:r>
              <a:rPr sz="1300" b="1" i="0">
                <a:solidFill>
                  <a:srgbClr val="111827"/>
                </a:solidFill>
                <a:latin typeface="Calibri"/>
              </a:rPr>
              <a:t>Same muscle on three stages of a claim: submit (PIS) · clinical intake (InfoX) · residual 5% (Radar)</a:t>
            </a:r>
          </a:p>
        </p:txBody>
      </p:sp>
      <p:sp>
        <p:nvSpPr>
          <p:cNvPr id="69" name="Rounded Rectangle 68"/>
          <p:cNvSpPr/>
          <p:nvPr/>
        </p:nvSpPr>
        <p:spPr>
          <a:xfrm>
            <a:off x="8348472" y="5541264"/>
            <a:ext cx="3477463" cy="713232"/>
          </a:xfrm>
          <a:prstGeom prst="roundRect">
            <a:avLst>
              <a:gd name="adj" fmla="val 8000"/>
            </a:avLst>
          </a:prstGeom>
          <a:solidFill>
            <a:srgbClr val="F9FAFB"/>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8513064" y="5632704"/>
            <a:ext cx="3184855" cy="164592"/>
          </a:xfrm>
          <a:prstGeom prst="rect">
            <a:avLst/>
          </a:prstGeom>
          <a:noFill/>
        </p:spPr>
        <p:txBody>
          <a:bodyPr wrap="square"/>
          <a:lstStyle/>
          <a:p>
            <a:pPr algn="l"/>
            <a:r>
              <a:rPr sz="1000" b="1" i="0" spc="180">
                <a:solidFill>
                  <a:srgbClr val="6B7280"/>
                </a:solidFill>
                <a:latin typeface="Calibri"/>
              </a:rPr>
              <a:t>WHY THIS MATTERS</a:t>
            </a:r>
          </a:p>
        </p:txBody>
      </p:sp>
      <p:sp>
        <p:nvSpPr>
          <p:cNvPr id="71" name="TextBox 70"/>
          <p:cNvSpPr txBox="1"/>
          <p:nvPr/>
        </p:nvSpPr>
        <p:spPr>
          <a:xfrm>
            <a:off x="8513064" y="5815584"/>
            <a:ext cx="3184855" cy="365760"/>
          </a:xfrm>
          <a:prstGeom prst="rect">
            <a:avLst/>
          </a:prstGeom>
          <a:noFill/>
        </p:spPr>
        <p:txBody>
          <a:bodyPr wrap="square"/>
          <a:lstStyle/>
          <a:p>
            <a:pPr algn="l"/>
            <a:r>
              <a:rPr sz="1200" b="0" i="0">
                <a:solidFill>
                  <a:srgbClr val="111827"/>
                </a:solidFill>
                <a:latin typeface="Calibri"/>
              </a:rPr>
              <a:t>Candid’s rules flywheel is this loop: volume at submit, user evidence, refuse vanity.</a:t>
            </a:r>
          </a:p>
        </p:txBody>
      </p:sp>
      <p:sp>
        <p:nvSpPr>
          <p:cNvPr id="72" name="TextBox 71"/>
          <p:cNvSpPr txBox="1"/>
          <p:nvPr/>
        </p:nvSpPr>
        <p:spPr>
          <a:xfrm>
            <a:off x="365760" y="6291072"/>
            <a:ext cx="11460175" cy="201168"/>
          </a:xfrm>
          <a:prstGeom prst="rect">
            <a:avLst/>
          </a:prstGeom>
          <a:noFill/>
        </p:spPr>
        <p:txBody>
          <a:bodyPr wrap="square"/>
          <a:lstStyle/>
          <a:p>
            <a:pPr algn="l"/>
            <a:r>
              <a:rPr sz="1000" b="0" i="0">
                <a:solidFill>
                  <a:srgbClr val="6B7280"/>
                </a:solidFill>
                <a:latin typeface="Calibri"/>
              </a:rPr>
              <a:t>Missed: Radar 20–75 / 90+ not ops-validated    ·    InfoX no vendor-pipeline metric    ·    PIS no sandbox vs live deny</a:t>
            </a:r>
          </a:p>
        </p:txBody>
      </p:sp>
      <p:sp>
        <p:nvSpPr>
          <p:cNvPr id="73" name="TextBox 72"/>
          <p:cNvSpPr txBox="1"/>
          <p:nvPr/>
        </p:nvSpPr>
        <p:spPr>
          <a:xfrm>
            <a:off x="365760" y="6565392"/>
            <a:ext cx="7863840" cy="201168"/>
          </a:xfrm>
          <a:prstGeom prst="rect">
            <a:avLst/>
          </a:prstGeom>
          <a:noFill/>
        </p:spPr>
        <p:txBody>
          <a:bodyPr wrap="square"/>
          <a:lstStyle/>
          <a:p>
            <a:pPr algn="l"/>
            <a:r>
              <a:rPr sz="1000" b="0" i="0">
                <a:solidFill>
                  <a:srgbClr val="6B7280"/>
                </a:solidFill>
                <a:latin typeface="Calibri"/>
              </a:rPr>
              <a:t>Healthcare systems fail upstream. I fix input quality instead of scaling downstream ops.    ·    5/6</a:t>
            </a:r>
          </a:p>
        </p:txBody>
      </p:sp>
      <p:sp>
        <p:nvSpPr>
          <p:cNvPr id="74" name="TextBox 73"/>
          <p:cNvSpPr txBox="1"/>
          <p:nvPr/>
        </p:nvSpPr>
        <p:spPr>
          <a:xfrm>
            <a:off x="8321040" y="6565392"/>
            <a:ext cx="3474720" cy="201168"/>
          </a:xfrm>
          <a:prstGeom prst="rect">
            <a:avLst/>
          </a:prstGeom>
          <a:noFill/>
        </p:spPr>
        <p:txBody>
          <a:bodyPr wrap="square"/>
          <a:lstStyle/>
          <a:p>
            <a:pPr algn="r"/>
            <a:r>
              <a:rPr sz="1000" b="0" i="0">
                <a:solidFill>
                  <a:srgbClr val="6B7280"/>
                </a:solidFill>
                <a:latin typeface="Calibri"/>
              </a:rPr>
              <a:t>Scope  Locked facts only · no invented TCR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114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11460175" cy="164592"/>
          </a:xfrm>
          <a:prstGeom prst="rect">
            <a:avLst/>
          </a:prstGeom>
          <a:noFill/>
        </p:spPr>
        <p:txBody>
          <a:bodyPr wrap="square"/>
          <a:lstStyle/>
          <a:p>
            <a:pPr algn="l"/>
            <a:r>
              <a:rPr sz="1000" b="1" i="0" spc="200">
                <a:solidFill>
                  <a:srgbClr val="7C3AED"/>
                </a:solidFill>
                <a:latin typeface="Calibri"/>
              </a:rPr>
              <a:t>6  ·  ARCHITECTURE</a:t>
            </a:r>
          </a:p>
        </p:txBody>
      </p:sp>
      <p:sp>
        <p:nvSpPr>
          <p:cNvPr id="5" name="TextBox 4"/>
          <p:cNvSpPr txBox="1"/>
          <p:nvPr/>
        </p:nvSpPr>
        <p:spPr>
          <a:xfrm>
            <a:off x="365760" y="237744"/>
            <a:ext cx="11460175" cy="310896"/>
          </a:xfrm>
          <a:prstGeom prst="rect">
            <a:avLst/>
          </a:prstGeom>
          <a:noFill/>
        </p:spPr>
        <p:txBody>
          <a:bodyPr wrap="square"/>
          <a:lstStyle/>
          <a:p>
            <a:pPr algn="l"/>
            <a:r>
              <a:rPr sz="2200" b="1" i="0">
                <a:solidFill>
                  <a:srgbClr val="111827"/>
                </a:solidFill>
                <a:latin typeface="Calibri"/>
              </a:rPr>
              <a:t>PIS — Fail closed at submit, retry after CMS</a:t>
            </a:r>
          </a:p>
        </p:txBody>
      </p:sp>
      <p:sp>
        <p:nvSpPr>
          <p:cNvPr id="6" name="TextBox 5"/>
          <p:cNvSpPr txBox="1"/>
          <p:nvPr/>
        </p:nvSpPr>
        <p:spPr>
          <a:xfrm>
            <a:off x="365760" y="530352"/>
            <a:ext cx="11460175" cy="164592"/>
          </a:xfrm>
          <a:prstGeom prst="rect">
            <a:avLst/>
          </a:prstGeom>
          <a:noFill/>
        </p:spPr>
        <p:txBody>
          <a:bodyPr wrap="square"/>
          <a:lstStyle/>
          <a:p>
            <a:r>
              <a:rPr sz="1000" b="1" i="0">
                <a:solidFill>
                  <a:srgbClr val="6B7280"/>
                </a:solidFill>
                <a:latin typeface="Calibri"/>
              </a:rPr>
              <a:t>User  </a:t>
            </a:r>
            <a:r>
              <a:rPr sz="1000" b="0" i="0">
                <a:solidFill>
                  <a:srgbClr val="6B7280"/>
                </a:solidFill>
                <a:latin typeface="Calibri"/>
              </a:rPr>
              <a:t>Office admin (not the MD)     ·     </a:t>
            </a:r>
            <a:r>
              <a:rPr sz="1000" b="1" i="0">
                <a:solidFill>
                  <a:srgbClr val="6B7280"/>
                </a:solidFill>
                <a:latin typeface="Calibri"/>
              </a:rPr>
              <a:t>Business  </a:t>
            </a:r>
            <a:r>
              <a:rPr sz="1000" b="0" i="0">
                <a:solidFill>
                  <a:srgbClr val="6B7280"/>
                </a:solidFill>
                <a:latin typeface="Calibri"/>
              </a:rPr>
              <a:t>Invalid never reaches ops     ·     </a:t>
            </a:r>
            <a:r>
              <a:rPr sz="1000" b="1" i="0">
                <a:solidFill>
                  <a:srgbClr val="6B7280"/>
                </a:solidFill>
                <a:latin typeface="Calibri"/>
              </a:rPr>
              <a:t>Trigger  </a:t>
            </a:r>
            <a:r>
              <a:rPr sz="1000" b="0" i="0">
                <a:solidFill>
                  <a:srgbClr val="6B7280"/>
                </a:solidFill>
                <a:latin typeface="Calibri"/>
              </a:rPr>
              <a:t>Portal can succeed while CMS fails</a:t>
            </a:r>
          </a:p>
        </p:txBody>
      </p:sp>
      <p:sp>
        <p:nvSpPr>
          <p:cNvPr id="7" name="TextBox 6"/>
          <p:cNvSpPr txBox="1"/>
          <p:nvPr/>
        </p:nvSpPr>
        <p:spPr>
          <a:xfrm>
            <a:off x="365760" y="676656"/>
            <a:ext cx="11460175" cy="164592"/>
          </a:xfrm>
          <a:prstGeom prst="rect">
            <a:avLst/>
          </a:prstGeom>
          <a:noFill/>
        </p:spPr>
        <p:txBody>
          <a:bodyPr wrap="square"/>
          <a:lstStyle/>
          <a:p>
            <a:pPr algn="l"/>
            <a:r>
              <a:rPr sz="1100" b="0" i="1">
                <a:solidFill>
                  <a:srgbClr val="6B7280"/>
                </a:solidFill>
                <a:latin typeface="Calibri"/>
              </a:rPr>
              <a:t>Detect-and-validate. Entitlement stays human. V1 stayed live on purpose.</a:t>
            </a:r>
          </a:p>
        </p:txBody>
      </p:sp>
      <p:sp>
        <p:nvSpPr>
          <p:cNvPr id="8" name="TextBox 7"/>
          <p:cNvSpPr txBox="1"/>
          <p:nvPr/>
        </p:nvSpPr>
        <p:spPr>
          <a:xfrm>
            <a:off x="365760" y="932688"/>
            <a:ext cx="2011680" cy="182880"/>
          </a:xfrm>
          <a:prstGeom prst="rect">
            <a:avLst/>
          </a:prstGeom>
          <a:noFill/>
        </p:spPr>
        <p:txBody>
          <a:bodyPr wrap="square"/>
          <a:lstStyle/>
          <a:p>
            <a:pPr algn="l"/>
            <a:r>
              <a:rPr sz="1000" b="1" i="0" spc="180">
                <a:solidFill>
                  <a:srgbClr val="047857"/>
                </a:solidFill>
                <a:latin typeface="Calibri"/>
              </a:rPr>
              <a:t>DATA</a:t>
            </a:r>
          </a:p>
        </p:txBody>
      </p:sp>
      <p:sp>
        <p:nvSpPr>
          <p:cNvPr id="9" name="Rounded Rectangle 8"/>
          <p:cNvSpPr/>
          <p:nvPr/>
        </p:nvSpPr>
        <p:spPr>
          <a:xfrm>
            <a:off x="365760" y="1115568"/>
            <a:ext cx="2087209" cy="402336"/>
          </a:xfrm>
          <a:prstGeom prst="roundRect">
            <a:avLst>
              <a:gd name="adj" fmla="val 8000"/>
            </a:avLst>
          </a:prstGeom>
          <a:solidFill>
            <a:srgbClr val="F9FAFB"/>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0624" y="1170432"/>
            <a:ext cx="1977481" cy="292608"/>
          </a:xfrm>
          <a:prstGeom prst="rect">
            <a:avLst/>
          </a:prstGeom>
          <a:noFill/>
        </p:spPr>
        <p:txBody>
          <a:bodyPr wrap="square"/>
          <a:lstStyle/>
          <a:p>
            <a:pPr algn="ctr"/>
            <a:r>
              <a:rPr sz="1100" b="1" i="0">
                <a:solidFill>
                  <a:srgbClr val="111827"/>
                </a:solidFill>
                <a:latin typeface="Calibri"/>
              </a:rPr>
              <a:t>Office admin</a:t>
            </a:r>
          </a:p>
        </p:txBody>
      </p:sp>
      <p:sp>
        <p:nvSpPr>
          <p:cNvPr id="11" name="Right Arrow 10"/>
          <p:cNvSpPr/>
          <p:nvPr/>
        </p:nvSpPr>
        <p:spPr>
          <a:xfrm>
            <a:off x="2489545" y="1252728"/>
            <a:ext cx="182880" cy="128016"/>
          </a:xfrm>
          <a:prstGeom prst="right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709001" y="1115568"/>
            <a:ext cx="2087209" cy="402336"/>
          </a:xfrm>
          <a:prstGeom prst="roundRect">
            <a:avLst>
              <a:gd name="adj" fmla="val 8000"/>
            </a:avLst>
          </a:prstGeom>
          <a:solidFill>
            <a:srgbClr val="F9FAFB"/>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3865" y="1170432"/>
            <a:ext cx="1977481" cy="292608"/>
          </a:xfrm>
          <a:prstGeom prst="rect">
            <a:avLst/>
          </a:prstGeom>
          <a:noFill/>
        </p:spPr>
        <p:txBody>
          <a:bodyPr wrap="square"/>
          <a:lstStyle/>
          <a:p>
            <a:pPr algn="ctr"/>
            <a:r>
              <a:rPr sz="1100" b="1" i="0">
                <a:solidFill>
                  <a:srgbClr val="111827"/>
                </a:solidFill>
                <a:latin typeface="Calibri"/>
              </a:rPr>
              <a:t>PIS V2 / Kendo</a:t>
            </a:r>
          </a:p>
        </p:txBody>
      </p:sp>
      <p:sp>
        <p:nvSpPr>
          <p:cNvPr id="14" name="Right Arrow 13"/>
          <p:cNvSpPr/>
          <p:nvPr/>
        </p:nvSpPr>
        <p:spPr>
          <a:xfrm>
            <a:off x="4832786" y="1252728"/>
            <a:ext cx="182880" cy="128016"/>
          </a:xfrm>
          <a:prstGeom prst="rightArrow">
            <a:avLst/>
          </a:prstGeom>
          <a:solidFill>
            <a:srgbClr val="047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052242" y="1115568"/>
            <a:ext cx="2087209" cy="402336"/>
          </a:xfrm>
          <a:prstGeom prst="roundRect">
            <a:avLst>
              <a:gd name="adj" fmla="val 8000"/>
            </a:avLst>
          </a:prstGeom>
          <a:solidFill>
            <a:srgbClr val="ECFDF5"/>
          </a:solidFill>
          <a:ln w="12700">
            <a:solidFill>
              <a:srgbClr val="ECFD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07106" y="1170432"/>
            <a:ext cx="1977481" cy="292608"/>
          </a:xfrm>
          <a:prstGeom prst="rect">
            <a:avLst/>
          </a:prstGeom>
          <a:noFill/>
        </p:spPr>
        <p:txBody>
          <a:bodyPr wrap="square"/>
          <a:lstStyle/>
          <a:p>
            <a:pPr algn="ctr"/>
            <a:r>
              <a:rPr sz="1100" b="1" i="0">
                <a:solidFill>
                  <a:srgbClr val="047857"/>
                </a:solidFill>
                <a:latin typeface="Calibri"/>
              </a:rPr>
              <a:t>★ Validation</a:t>
            </a:r>
          </a:p>
        </p:txBody>
      </p:sp>
      <p:sp>
        <p:nvSpPr>
          <p:cNvPr id="17" name="Right Arrow 16"/>
          <p:cNvSpPr/>
          <p:nvPr/>
        </p:nvSpPr>
        <p:spPr>
          <a:xfrm>
            <a:off x="7176028" y="1252728"/>
            <a:ext cx="182880" cy="128016"/>
          </a:xfrm>
          <a:prstGeom prst="rightArrow">
            <a:avLst/>
          </a:prstGeom>
          <a:solidFill>
            <a:srgbClr val="047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395484" y="1115568"/>
            <a:ext cx="2087209" cy="402336"/>
          </a:xfrm>
          <a:prstGeom prst="roundRect">
            <a:avLst>
              <a:gd name="adj" fmla="val 8000"/>
            </a:avLst>
          </a:prstGeom>
          <a:solidFill>
            <a:srgbClr val="F9FAFB"/>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50348" y="1170432"/>
            <a:ext cx="1977481" cy="292608"/>
          </a:xfrm>
          <a:prstGeom prst="rect">
            <a:avLst/>
          </a:prstGeom>
          <a:noFill/>
        </p:spPr>
        <p:txBody>
          <a:bodyPr wrap="square"/>
          <a:lstStyle/>
          <a:p>
            <a:pPr algn="ctr"/>
            <a:r>
              <a:rPr sz="1100" b="1" i="0">
                <a:solidFill>
                  <a:srgbClr val="111827"/>
                </a:solidFill>
                <a:latin typeface="Calibri"/>
              </a:rPr>
              <a:t>PIS.API</a:t>
            </a:r>
          </a:p>
        </p:txBody>
      </p:sp>
      <p:sp>
        <p:nvSpPr>
          <p:cNvPr id="20" name="Right Arrow 19"/>
          <p:cNvSpPr/>
          <p:nvPr/>
        </p:nvSpPr>
        <p:spPr>
          <a:xfrm>
            <a:off x="9519269" y="1252728"/>
            <a:ext cx="182880" cy="128016"/>
          </a:xfrm>
          <a:prstGeom prst="right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738725" y="1115568"/>
            <a:ext cx="2087209" cy="402336"/>
          </a:xfrm>
          <a:prstGeom prst="roundRect">
            <a:avLst>
              <a:gd name="adj" fmla="val 8000"/>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793589" y="1170432"/>
            <a:ext cx="1977481" cy="292608"/>
          </a:xfrm>
          <a:prstGeom prst="rect">
            <a:avLst/>
          </a:prstGeom>
          <a:noFill/>
        </p:spPr>
        <p:txBody>
          <a:bodyPr wrap="square"/>
          <a:lstStyle/>
          <a:p>
            <a:pPr algn="ctr"/>
            <a:r>
              <a:rPr sz="1100" b="1" i="0">
                <a:solidFill>
                  <a:srgbClr val="6B7280"/>
                </a:solidFill>
                <a:latin typeface="Calibri"/>
              </a:rPr>
              <a:t>async CMS</a:t>
            </a:r>
          </a:p>
        </p:txBody>
      </p:sp>
      <p:sp>
        <p:nvSpPr>
          <p:cNvPr id="23" name="TextBox 22"/>
          <p:cNvSpPr txBox="1"/>
          <p:nvPr/>
        </p:nvSpPr>
        <p:spPr>
          <a:xfrm>
            <a:off x="365760" y="1591056"/>
            <a:ext cx="2011680" cy="182880"/>
          </a:xfrm>
          <a:prstGeom prst="rect">
            <a:avLst/>
          </a:prstGeom>
          <a:noFill/>
        </p:spPr>
        <p:txBody>
          <a:bodyPr wrap="square"/>
          <a:lstStyle/>
          <a:p>
            <a:pPr algn="l"/>
            <a:r>
              <a:rPr sz="1000" b="1" i="0" spc="180">
                <a:solidFill>
                  <a:srgbClr val="B91C1C"/>
                </a:solidFill>
                <a:latin typeface="Calibri"/>
              </a:rPr>
              <a:t>ERROR</a:t>
            </a:r>
          </a:p>
        </p:txBody>
      </p:sp>
      <p:sp>
        <p:nvSpPr>
          <p:cNvPr id="24" name="TextBox 23"/>
          <p:cNvSpPr txBox="1"/>
          <p:nvPr/>
        </p:nvSpPr>
        <p:spPr>
          <a:xfrm>
            <a:off x="2468880" y="1591056"/>
            <a:ext cx="9326880" cy="182880"/>
          </a:xfrm>
          <a:prstGeom prst="rect">
            <a:avLst/>
          </a:prstGeom>
          <a:noFill/>
        </p:spPr>
        <p:txBody>
          <a:bodyPr wrap="square"/>
          <a:lstStyle/>
          <a:p>
            <a:pPr algn="l"/>
            <a:r>
              <a:rPr sz="1000" b="0" i="1">
                <a:solidFill>
                  <a:srgbClr val="6B7280"/>
                </a:solidFill>
                <a:latin typeface="Calibri"/>
              </a:rPr>
              <a:t>CMS fail  →  retry queue  →  eng email for manual submit</a:t>
            </a:r>
          </a:p>
        </p:txBody>
      </p:sp>
      <p:sp>
        <p:nvSpPr>
          <p:cNvPr id="25" name="Rounded Rectangle 24"/>
          <p:cNvSpPr/>
          <p:nvPr/>
        </p:nvSpPr>
        <p:spPr>
          <a:xfrm>
            <a:off x="365760" y="1773936"/>
            <a:ext cx="3649370" cy="402336"/>
          </a:xfrm>
          <a:prstGeom prst="roundRect">
            <a:avLst>
              <a:gd name="adj" fmla="val 8000"/>
            </a:avLst>
          </a:prstGeom>
          <a:solidFill>
            <a:srgbClr val="FEF2F2"/>
          </a:solidFill>
          <a:ln w="12700">
            <a:solidFill>
              <a:srgbClr val="FE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20624" y="1828800"/>
            <a:ext cx="3539642" cy="292608"/>
          </a:xfrm>
          <a:prstGeom prst="rect">
            <a:avLst/>
          </a:prstGeom>
          <a:noFill/>
        </p:spPr>
        <p:txBody>
          <a:bodyPr wrap="square"/>
          <a:lstStyle/>
          <a:p>
            <a:pPr algn="ctr"/>
            <a:r>
              <a:rPr sz="1100" b="1" i="0">
                <a:solidFill>
                  <a:srgbClr val="B91C1C"/>
                </a:solidFill>
                <a:latin typeface="Calibri"/>
              </a:rPr>
              <a:t>No DOS / ineligible</a:t>
            </a:r>
          </a:p>
        </p:txBody>
      </p:sp>
      <p:sp>
        <p:nvSpPr>
          <p:cNvPr id="27" name="Right Arrow 26"/>
          <p:cNvSpPr/>
          <p:nvPr/>
        </p:nvSpPr>
        <p:spPr>
          <a:xfrm>
            <a:off x="4051706" y="1911096"/>
            <a:ext cx="182880" cy="128016"/>
          </a:xfrm>
          <a:prstGeom prst="rightArrow">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4271162" y="1773936"/>
            <a:ext cx="3649370" cy="402336"/>
          </a:xfrm>
          <a:prstGeom prst="roundRect">
            <a:avLst>
              <a:gd name="adj" fmla="val 8000"/>
            </a:avLst>
          </a:prstGeom>
          <a:solidFill>
            <a:srgbClr val="FEF2F2"/>
          </a:solidFill>
          <a:ln w="12700">
            <a:solidFill>
              <a:srgbClr val="FE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326026" y="1828800"/>
            <a:ext cx="3539642" cy="292608"/>
          </a:xfrm>
          <a:prstGeom prst="rect">
            <a:avLst/>
          </a:prstGeom>
          <a:noFill/>
        </p:spPr>
        <p:txBody>
          <a:bodyPr wrap="square"/>
          <a:lstStyle/>
          <a:p>
            <a:pPr algn="ctr"/>
            <a:r>
              <a:rPr sz="1100" b="1" i="0">
                <a:solidFill>
                  <a:srgbClr val="B91C1C"/>
                </a:solidFill>
                <a:latin typeface="Calibri"/>
              </a:rPr>
              <a:t>★ Fail closed</a:t>
            </a:r>
          </a:p>
        </p:txBody>
      </p:sp>
      <p:sp>
        <p:nvSpPr>
          <p:cNvPr id="30" name="Right Arrow 29"/>
          <p:cNvSpPr/>
          <p:nvPr/>
        </p:nvSpPr>
        <p:spPr>
          <a:xfrm>
            <a:off x="7957108" y="1911096"/>
            <a:ext cx="182880" cy="128016"/>
          </a:xfrm>
          <a:prstGeom prst="rightArrow">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176564" y="1773936"/>
            <a:ext cx="3649370" cy="402336"/>
          </a:xfrm>
          <a:prstGeom prst="roundRect">
            <a:avLst>
              <a:gd name="adj" fmla="val 8000"/>
            </a:avLst>
          </a:prstGeom>
          <a:solidFill>
            <a:srgbClr val="FEF2F2"/>
          </a:solidFill>
          <a:ln w="12700">
            <a:solidFill>
              <a:srgbClr val="FE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31428" y="1828800"/>
            <a:ext cx="3539642" cy="292608"/>
          </a:xfrm>
          <a:prstGeom prst="rect">
            <a:avLst/>
          </a:prstGeom>
          <a:noFill/>
        </p:spPr>
        <p:txBody>
          <a:bodyPr wrap="square"/>
          <a:lstStyle/>
          <a:p>
            <a:pPr algn="ctr"/>
            <a:r>
              <a:rPr sz="1100" b="1" i="0">
                <a:solidFill>
                  <a:srgbClr val="B91C1C"/>
                </a:solidFill>
                <a:latin typeface="Calibri"/>
              </a:rPr>
              <a:t>never queued</a:t>
            </a:r>
          </a:p>
        </p:txBody>
      </p:sp>
      <p:sp>
        <p:nvSpPr>
          <p:cNvPr id="33" name="Rounded Rectangle 32"/>
          <p:cNvSpPr/>
          <p:nvPr/>
        </p:nvSpPr>
        <p:spPr>
          <a:xfrm>
            <a:off x="365760" y="2286000"/>
            <a:ext cx="11460175" cy="384048"/>
          </a:xfrm>
          <a:prstGeom prst="roundRect">
            <a:avLst>
              <a:gd name="adj" fmla="val 8000"/>
            </a:avLst>
          </a:prstGeom>
          <a:solidFill>
            <a:srgbClr val="F5F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66928" y="2359152"/>
            <a:ext cx="11057839" cy="256032"/>
          </a:xfrm>
          <a:prstGeom prst="rect">
            <a:avLst/>
          </a:prstGeom>
          <a:noFill/>
        </p:spPr>
        <p:txBody>
          <a:bodyPr wrap="square"/>
          <a:lstStyle/>
          <a:p>
            <a:pPr algn="l"/>
            <a:r>
              <a:rPr sz="1400" b="1" i="0">
                <a:solidFill>
                  <a:srgbClr val="7C3AED"/>
                </a:solidFill>
                <a:latin typeface="Calibri"/>
              </a:rPr>
              <a:t>Fail closed at submit. CMS can still fail after the portal succeeds.</a:t>
            </a:r>
          </a:p>
        </p:txBody>
      </p:sp>
      <p:sp>
        <p:nvSpPr>
          <p:cNvPr id="35" name="Rounded Rectangle 34"/>
          <p:cNvSpPr/>
          <p:nvPr/>
        </p:nvSpPr>
        <p:spPr>
          <a:xfrm>
            <a:off x="365760" y="2779776"/>
            <a:ext cx="3710330" cy="2468880"/>
          </a:xfrm>
          <a:prstGeom prst="roundRect">
            <a:avLst>
              <a:gd name="adj" fmla="val 8000"/>
            </a:avLst>
          </a:prstGeom>
          <a:solidFill>
            <a:srgbClr val="F9FAFB"/>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48640" y="2889504"/>
            <a:ext cx="3344570" cy="2267712"/>
          </a:xfrm>
          <a:prstGeom prst="rect">
            <a:avLst/>
          </a:prstGeom>
          <a:noFill/>
        </p:spPr>
        <p:txBody>
          <a:bodyPr wrap="square"/>
          <a:lstStyle/>
          <a:p>
            <a:r>
              <a:rPr sz="1000" b="1" i="0" spc="180">
                <a:solidFill>
                  <a:srgbClr val="B91C1C"/>
                </a:solidFill>
                <a:latin typeface="Calibri"/>
              </a:rPr>
              <a:t>NO DOS</a:t>
            </a:r>
          </a:p>
          <a:p>
            <a:pPr>
              <a:spcBef>
                <a:spcPts val="400"/>
              </a:spcBef>
            </a:pPr>
            <a:r>
              <a:rPr sz="1200" b="0" i="0">
                <a:solidFill>
                  <a:srgbClr val="111827"/>
                </a:solidFill>
                <a:latin typeface="Calibri"/>
              </a:rPr>
              <a:t>Fee codes live in CMS HUB with multiple periods</a:t>
            </a:r>
          </a:p>
          <a:p>
            <a:pPr>
              <a:spcBef>
                <a:spcPts val="400"/>
              </a:spcBef>
            </a:pPr>
            <a:r>
              <a:rPr sz="1200" b="0" i="0">
                <a:solidFill>
                  <a:srgbClr val="111827"/>
                </a:solidFill>
                <a:latin typeface="Calibri"/>
              </a:rPr>
              <a:t>DOS is the join key</a:t>
            </a:r>
          </a:p>
          <a:p>
            <a:pPr>
              <a:spcBef>
                <a:spcPts val="400"/>
              </a:spcBef>
            </a:pPr>
            <a:r>
              <a:rPr sz="1200" b="0" i="0">
                <a:solidFill>
                  <a:srgbClr val="111827"/>
                </a:solidFill>
                <a:latin typeface="Calibri"/>
              </a:rPr>
              <a:t>No date → no fee-code search</a:t>
            </a:r>
          </a:p>
        </p:txBody>
      </p:sp>
      <p:sp>
        <p:nvSpPr>
          <p:cNvPr id="37" name="Rounded Rectangle 36"/>
          <p:cNvSpPr/>
          <p:nvPr/>
        </p:nvSpPr>
        <p:spPr>
          <a:xfrm>
            <a:off x="4240682" y="2779776"/>
            <a:ext cx="3710330" cy="2468880"/>
          </a:xfrm>
          <a:prstGeom prst="roundRect">
            <a:avLst>
              <a:gd name="adj" fmla="val 8000"/>
            </a:avLst>
          </a:prstGeom>
          <a:solidFill>
            <a:srgbClr val="F9FAFB"/>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423562" y="2889504"/>
            <a:ext cx="3344570" cy="2267712"/>
          </a:xfrm>
          <a:prstGeom prst="rect">
            <a:avLst/>
          </a:prstGeom>
          <a:noFill/>
        </p:spPr>
        <p:txBody>
          <a:bodyPr wrap="square"/>
          <a:lstStyle/>
          <a:p>
            <a:r>
              <a:rPr sz="1000" b="1" i="0" spc="180">
                <a:solidFill>
                  <a:srgbClr val="B91C1C"/>
                </a:solidFill>
                <a:latin typeface="Calibri"/>
              </a:rPr>
              <a:t>INELIGIBLE</a:t>
            </a:r>
          </a:p>
          <a:p>
            <a:pPr>
              <a:spcBef>
                <a:spcPts val="400"/>
              </a:spcBef>
            </a:pPr>
            <a:r>
              <a:rPr sz="1200" b="0" i="0">
                <a:solidFill>
                  <a:srgbClr val="111827"/>
                </a:solidFill>
                <a:latin typeface="Calibri"/>
              </a:rPr>
              <a:t>Invoice API: orgs only see contracted services</a:t>
            </a:r>
          </a:p>
          <a:p>
            <a:pPr>
              <a:spcBef>
                <a:spcPts val="400"/>
              </a:spcBef>
            </a:pPr>
            <a:r>
              <a:rPr sz="1200" b="0" i="0">
                <a:solidFill>
                  <a:srgbClr val="111827"/>
                </a:solidFill>
                <a:latin typeface="Calibri"/>
              </a:rPr>
              <a:t>Invalid never queued</a:t>
            </a:r>
          </a:p>
          <a:p>
            <a:pPr>
              <a:spcBef>
                <a:spcPts val="400"/>
              </a:spcBef>
            </a:pPr>
            <a:r>
              <a:rPr sz="1200" b="0" i="0">
                <a:solidFill>
                  <a:srgbClr val="111827"/>
                </a:solidFill>
                <a:latin typeface="Calibri"/>
              </a:rPr>
              <a:t>Cut polish so eligibility did not wreck submit latency</a:t>
            </a:r>
          </a:p>
        </p:txBody>
      </p:sp>
      <p:sp>
        <p:nvSpPr>
          <p:cNvPr id="39" name="Rounded Rectangle 38"/>
          <p:cNvSpPr/>
          <p:nvPr/>
        </p:nvSpPr>
        <p:spPr>
          <a:xfrm>
            <a:off x="8115604" y="2779776"/>
            <a:ext cx="3710330" cy="2468880"/>
          </a:xfrm>
          <a:prstGeom prst="roundRect">
            <a:avLst>
              <a:gd name="adj" fmla="val 8000"/>
            </a:avLst>
          </a:prstGeom>
          <a:solidFill>
            <a:srgbClr val="F9FAFB"/>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298484" y="2889504"/>
            <a:ext cx="3344570" cy="2267712"/>
          </a:xfrm>
          <a:prstGeom prst="rect">
            <a:avLst/>
          </a:prstGeom>
          <a:noFill/>
        </p:spPr>
        <p:txBody>
          <a:bodyPr wrap="square"/>
          <a:lstStyle/>
          <a:p>
            <a:r>
              <a:rPr sz="1000" b="1" i="0" spc="180">
                <a:solidFill>
                  <a:srgbClr val="B91C1C"/>
                </a:solidFill>
                <a:latin typeface="Calibri"/>
              </a:rPr>
              <a:t>PORTAL OK / CMS FAIL</a:t>
            </a:r>
          </a:p>
          <a:p>
            <a:pPr>
              <a:spcBef>
                <a:spcPts val="400"/>
              </a:spcBef>
            </a:pPr>
            <a:r>
              <a:rPr sz="1200" b="0" i="0">
                <a:solidFill>
                  <a:srgbClr val="111827"/>
                </a:solidFill>
                <a:latin typeface="Calibri"/>
              </a:rPr>
              <a:t>Sync → async to scale</a:t>
            </a:r>
          </a:p>
          <a:p>
            <a:pPr>
              <a:spcBef>
                <a:spcPts val="400"/>
              </a:spcBef>
            </a:pPr>
            <a:r>
              <a:rPr sz="1200" b="0" i="0">
                <a:solidFill>
                  <a:srgbClr val="111827"/>
                </a:solidFill>
                <a:latin typeface="Calibri"/>
              </a:rPr>
              <a:t>Retry; then email to eng for manual submit</a:t>
            </a:r>
          </a:p>
          <a:p>
            <a:pPr>
              <a:spcBef>
                <a:spcPts val="400"/>
              </a:spcBef>
            </a:pPr>
            <a:r>
              <a:rPr sz="1200" b="0" i="0">
                <a:solidFill>
                  <a:srgbClr val="111827"/>
                </a:solidFill>
                <a:latin typeface="Calibri"/>
              </a:rPr>
              <a:t>Residual: “is this line for this injury?” stays human, not a regex</a:t>
            </a:r>
          </a:p>
        </p:txBody>
      </p:sp>
      <p:sp>
        <p:nvSpPr>
          <p:cNvPr id="41" name="Rounded Rectangle 40"/>
          <p:cNvSpPr/>
          <p:nvPr/>
        </p:nvSpPr>
        <p:spPr>
          <a:xfrm>
            <a:off x="365760" y="5541264"/>
            <a:ext cx="7818120" cy="713232"/>
          </a:xfrm>
          <a:prstGeom prst="roundRect">
            <a:avLst>
              <a:gd name="adj" fmla="val 8000"/>
            </a:avLst>
          </a:prstGeom>
          <a:solidFill>
            <a:srgbClr val="ECF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66928" y="5632704"/>
            <a:ext cx="7452360" cy="164592"/>
          </a:xfrm>
          <a:prstGeom prst="rect">
            <a:avLst/>
          </a:prstGeom>
          <a:noFill/>
        </p:spPr>
        <p:txBody>
          <a:bodyPr wrap="square"/>
          <a:lstStyle/>
          <a:p>
            <a:pPr algn="l"/>
            <a:r>
              <a:rPr sz="1000" b="1" i="0" spc="180">
                <a:solidFill>
                  <a:srgbClr val="047857"/>
                </a:solidFill>
                <a:latin typeface="Calibri"/>
              </a:rPr>
              <a:t>OUTCOME</a:t>
            </a:r>
          </a:p>
        </p:txBody>
      </p:sp>
      <p:sp>
        <p:nvSpPr>
          <p:cNvPr id="43" name="TextBox 42"/>
          <p:cNvSpPr txBox="1"/>
          <p:nvPr/>
        </p:nvSpPr>
        <p:spPr>
          <a:xfrm>
            <a:off x="566928" y="5833872"/>
            <a:ext cx="7452360" cy="329184"/>
          </a:xfrm>
          <a:prstGeom prst="rect">
            <a:avLst/>
          </a:prstGeom>
          <a:noFill/>
        </p:spPr>
        <p:txBody>
          <a:bodyPr wrap="square"/>
          <a:lstStyle/>
          <a:p>
            <a:pPr algn="l"/>
            <a:r>
              <a:rPr sz="1300" b="1" i="0">
                <a:solidFill>
                  <a:srgbClr val="111827"/>
                </a:solidFill>
                <a:latin typeface="Calibri"/>
              </a:rPr>
              <a:t>Invalid −40% (user)    ·    Fail closed at submit (system)    ·    Residual stays human</a:t>
            </a:r>
          </a:p>
        </p:txBody>
      </p:sp>
      <p:sp>
        <p:nvSpPr>
          <p:cNvPr id="44" name="Rounded Rectangle 43"/>
          <p:cNvSpPr/>
          <p:nvPr/>
        </p:nvSpPr>
        <p:spPr>
          <a:xfrm>
            <a:off x="8348472" y="5541264"/>
            <a:ext cx="3477463" cy="713232"/>
          </a:xfrm>
          <a:prstGeom prst="roundRect">
            <a:avLst>
              <a:gd name="adj" fmla="val 8000"/>
            </a:avLst>
          </a:prstGeom>
          <a:solidFill>
            <a:srgbClr val="F9FAFB"/>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513064" y="5632704"/>
            <a:ext cx="3184855" cy="164592"/>
          </a:xfrm>
          <a:prstGeom prst="rect">
            <a:avLst/>
          </a:prstGeom>
          <a:noFill/>
        </p:spPr>
        <p:txBody>
          <a:bodyPr wrap="square"/>
          <a:lstStyle/>
          <a:p>
            <a:pPr algn="l"/>
            <a:r>
              <a:rPr sz="1000" b="1" i="0" spc="180">
                <a:solidFill>
                  <a:srgbClr val="6B7280"/>
                </a:solidFill>
                <a:latin typeface="Calibri"/>
              </a:rPr>
              <a:t>WHY THIS MATTERS</a:t>
            </a:r>
          </a:p>
        </p:txBody>
      </p:sp>
      <p:sp>
        <p:nvSpPr>
          <p:cNvPr id="46" name="TextBox 45"/>
          <p:cNvSpPr txBox="1"/>
          <p:nvPr/>
        </p:nvSpPr>
        <p:spPr>
          <a:xfrm>
            <a:off x="8513064" y="5815584"/>
            <a:ext cx="3184855" cy="365760"/>
          </a:xfrm>
          <a:prstGeom prst="rect">
            <a:avLst/>
          </a:prstGeom>
          <a:noFill/>
        </p:spPr>
        <p:txBody>
          <a:bodyPr wrap="square"/>
          <a:lstStyle/>
          <a:p>
            <a:pPr algn="l"/>
            <a:r>
              <a:rPr sz="1200" b="0" i="0">
                <a:solidFill>
                  <a:srgbClr val="111827"/>
                </a:solidFill>
                <a:latin typeface="Calibri"/>
              </a:rPr>
              <a:t>Same detect layer as Candid. Missing half: auto-correct + learn from the touch.</a:t>
            </a:r>
          </a:p>
        </p:txBody>
      </p:sp>
      <p:sp>
        <p:nvSpPr>
          <p:cNvPr id="47" name="TextBox 46"/>
          <p:cNvSpPr txBox="1"/>
          <p:nvPr/>
        </p:nvSpPr>
        <p:spPr>
          <a:xfrm>
            <a:off x="365760" y="6291072"/>
            <a:ext cx="11460175" cy="201168"/>
          </a:xfrm>
          <a:prstGeom prst="rect">
            <a:avLst/>
          </a:prstGeom>
          <a:noFill/>
        </p:spPr>
        <p:txBody>
          <a:bodyPr wrap="square"/>
          <a:lstStyle/>
          <a:p>
            <a:pPr algn="l"/>
            <a:r>
              <a:rPr sz="1000" b="0" i="0">
                <a:solidFill>
                  <a:srgbClr val="6B7280"/>
                </a:solidFill>
                <a:latin typeface="Calibri"/>
              </a:rPr>
              <a:t>Missed: no sandbox vs live CMS deny    ·    rules not reconfigurable    ·    no auto-correct</a:t>
            </a:r>
          </a:p>
        </p:txBody>
      </p:sp>
      <p:sp>
        <p:nvSpPr>
          <p:cNvPr id="48" name="TextBox 47"/>
          <p:cNvSpPr txBox="1"/>
          <p:nvPr/>
        </p:nvSpPr>
        <p:spPr>
          <a:xfrm>
            <a:off x="365760" y="6565392"/>
            <a:ext cx="7863840" cy="201168"/>
          </a:xfrm>
          <a:prstGeom prst="rect">
            <a:avLst/>
          </a:prstGeom>
          <a:noFill/>
        </p:spPr>
        <p:txBody>
          <a:bodyPr wrap="square"/>
          <a:lstStyle/>
          <a:p>
            <a:pPr algn="l"/>
            <a:r>
              <a:rPr sz="1000" b="0" i="0">
                <a:solidFill>
                  <a:srgbClr val="6B7280"/>
                </a:solidFill>
                <a:latin typeface="Calibri"/>
              </a:rPr>
              <a:t>Healthcare systems fail upstream. I fix input quality instead of scaling downstream ops.    ·    6/6</a:t>
            </a:r>
          </a:p>
        </p:txBody>
      </p:sp>
      <p:sp>
        <p:nvSpPr>
          <p:cNvPr id="49" name="TextBox 48"/>
          <p:cNvSpPr txBox="1"/>
          <p:nvPr/>
        </p:nvSpPr>
        <p:spPr>
          <a:xfrm>
            <a:off x="8321040" y="6565392"/>
            <a:ext cx="3474720" cy="201168"/>
          </a:xfrm>
          <a:prstGeom prst="rect">
            <a:avLst/>
          </a:prstGeom>
          <a:noFill/>
        </p:spPr>
        <p:txBody>
          <a:bodyPr wrap="square"/>
          <a:lstStyle/>
          <a:p>
            <a:pPr algn="r"/>
            <a:r>
              <a:rPr sz="1000" b="0" i="0">
                <a:solidFill>
                  <a:srgbClr val="6B7280"/>
                </a:solidFill>
                <a:latin typeface="Calibri"/>
              </a:rPr>
              <a:t>Scope  Detect only · legacy Kendo / CMS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